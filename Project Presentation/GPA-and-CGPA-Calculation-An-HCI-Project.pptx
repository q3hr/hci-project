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8" r:id="rId3"/>
    <p:sldId id="259" r:id="rId4"/>
    <p:sldId id="261" r:id="rId5"/>
    <p:sldId id="260" r:id="rId6"/>
    <p:sldId id="262" r:id="rId7"/>
    <p:sldId id="263" r:id="rId8"/>
    <p:sldId id="264" r:id="rId9"/>
    <p:sldId id="265" r:id="rId10"/>
    <p:sldId id="267" r:id="rId11"/>
    <p:sldId id="268" r:id="rId12"/>
    <p:sldId id="269" r:id="rId13"/>
    <p:sldId id="273" r:id="rId14"/>
    <p:sldId id="274" r:id="rId15"/>
    <p:sldId id="275" r:id="rId16"/>
    <p:sldId id="272" r:id="rId17"/>
    <p:sldId id="276" r:id="rId18"/>
    <p:sldId id="277" r:id="rId19"/>
    <p:sldId id="278" r:id="rId20"/>
    <p:sldId id="280" r:id="rId21"/>
    <p:sldId id="281" r:id="rId22"/>
    <p:sldId id="282" r:id="rId23"/>
    <p:sldId id="283" r:id="rId24"/>
  </p:sldIdLst>
  <p:sldSz cx="14630400" cy="8229600"/>
  <p:notesSz cx="8229600" cy="14630400"/>
  <p:embeddedFontLst>
    <p:embeddedFont>
      <p:font typeface="Mukta Light" panose="020B0604020202020204" charset="0"/>
      <p:regular r:id="rId26"/>
    </p:embeddedFont>
    <p:embeddedFont>
      <p:font typeface="Prompt Medium" panose="00000600000000000000" pitchFamily="2" charset="-34"/>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autoAdjust="0"/>
    <p:restoredTop sz="94610"/>
  </p:normalViewPr>
  <p:slideViewPr>
    <p:cSldViewPr snapToGrid="0" snapToObjects="1">
      <p:cViewPr>
        <p:scale>
          <a:sx n="66" d="100"/>
          <a:sy n="66" d="100"/>
        </p:scale>
        <p:origin x="912"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2369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59813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64300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98571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496135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45847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79992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905096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15245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51630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991198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622148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783706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40840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624343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12"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4.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30.jpe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32.jpeg"/><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6.jpe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7.jpe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8.jpe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9.jpe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40.jpe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41.jpeg"/><Relationship Id="rId5" Type="http://schemas.openxmlformats.org/officeDocument/2006/relationships/hyperlink" Target="https://hci-project-two-psi.vercel.app/" TargetMode="Externa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06767" y="2130102"/>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GPA and CGPA Calculation: </a:t>
            </a:r>
          </a:p>
          <a:p>
            <a:pPr marL="0" indent="0" algn="l">
              <a:lnSpc>
                <a:spcPts val="4800"/>
              </a:lnSpc>
              <a:buNone/>
            </a:pPr>
            <a:r>
              <a:rPr lang="en-US" sz="2000" i="1" dirty="0">
                <a:solidFill>
                  <a:srgbClr val="C6BFEE"/>
                </a:solidFill>
                <a:latin typeface="Prompt Medium" pitchFamily="34" charset="0"/>
                <a:ea typeface="Prompt Medium" pitchFamily="34" charset="-122"/>
                <a:cs typeface="Prompt Medium" pitchFamily="34" charset="-120"/>
              </a:rPr>
              <a:t>An HCI Project</a:t>
            </a:r>
            <a:endParaRPr lang="en-US" sz="2000" i="1" dirty="0"/>
          </a:p>
        </p:txBody>
      </p:sp>
      <p:sp>
        <p:nvSpPr>
          <p:cNvPr id="4" name="Text 1"/>
          <p:cNvSpPr/>
          <p:nvPr/>
        </p:nvSpPr>
        <p:spPr>
          <a:xfrm>
            <a:off x="881063" y="4715708"/>
            <a:ext cx="7381875" cy="352425"/>
          </a:xfrm>
          <a:prstGeom prst="rect">
            <a:avLst/>
          </a:prstGeom>
          <a:noFill/>
          <a:ln/>
        </p:spPr>
        <p:txBody>
          <a:bodyPr wrap="none" lIns="0" tIns="0" rIns="0" bIns="0" rtlCol="0" anchor="t"/>
          <a:lstStyle/>
          <a:p>
            <a:pPr marL="0" indent="0" algn="l">
              <a:lnSpc>
                <a:spcPts val="2750"/>
              </a:lnSpc>
              <a:buNone/>
            </a:pPr>
            <a:endParaRPr lang="en-US" sz="1700" dirty="0"/>
          </a:p>
        </p:txBody>
      </p:sp>
      <p:sp>
        <p:nvSpPr>
          <p:cNvPr id="5" name="Text 1">
            <a:extLst>
              <a:ext uri="{FF2B5EF4-FFF2-40B4-BE49-F238E27FC236}">
                <a16:creationId xmlns:a16="http://schemas.microsoft.com/office/drawing/2014/main" id="{CFFAB07D-0334-295A-242E-FF722F210EBE}"/>
              </a:ext>
            </a:extLst>
          </p:cNvPr>
          <p:cNvSpPr/>
          <p:nvPr/>
        </p:nvSpPr>
        <p:spPr>
          <a:xfrm>
            <a:off x="2234555" y="4663319"/>
            <a:ext cx="1887379" cy="235863"/>
          </a:xfrm>
          <a:prstGeom prst="rect">
            <a:avLst/>
          </a:prstGeom>
          <a:noFill/>
          <a:ln/>
        </p:spPr>
        <p:txBody>
          <a:bodyPr wrap="none" lIns="0" tIns="0" rIns="0" bIns="0" rtlCol="0" anchor="t"/>
          <a:lstStyle/>
          <a:p>
            <a:pPr marL="0" indent="0" algn="l">
              <a:lnSpc>
                <a:spcPts val="1850"/>
              </a:lnSpc>
              <a:buNone/>
            </a:pPr>
            <a:r>
              <a:rPr lang="en-US" sz="1450" dirty="0">
                <a:solidFill>
                  <a:srgbClr val="DAD8E9"/>
                </a:solidFill>
                <a:latin typeface="Prompt Medium" pitchFamily="34" charset="0"/>
                <a:ea typeface="Prompt Medium" pitchFamily="34" charset="-122"/>
                <a:cs typeface="Prompt Medium" pitchFamily="34" charset="-120"/>
              </a:rPr>
              <a:t>Ibrar Ul Hassan Shami</a:t>
            </a:r>
            <a:endParaRPr lang="en-US" sz="1450" dirty="0"/>
          </a:p>
        </p:txBody>
      </p:sp>
      <p:sp>
        <p:nvSpPr>
          <p:cNvPr id="6" name="Text 2">
            <a:extLst>
              <a:ext uri="{FF2B5EF4-FFF2-40B4-BE49-F238E27FC236}">
                <a16:creationId xmlns:a16="http://schemas.microsoft.com/office/drawing/2014/main" id="{EE33508A-4471-9AE9-F43D-344BD973D69D}"/>
              </a:ext>
            </a:extLst>
          </p:cNvPr>
          <p:cNvSpPr/>
          <p:nvPr/>
        </p:nvSpPr>
        <p:spPr>
          <a:xfrm>
            <a:off x="2234555" y="4977763"/>
            <a:ext cx="1845955" cy="240625"/>
          </a:xfrm>
          <a:prstGeom prst="rect">
            <a:avLst/>
          </a:prstGeom>
          <a:noFill/>
          <a:ln/>
        </p:spPr>
        <p:txBody>
          <a:bodyPr wrap="none" lIns="0" tIns="0" rIns="0" bIns="0" rtlCol="0" anchor="t"/>
          <a:lstStyle/>
          <a:p>
            <a:pPr marL="0" indent="0" algn="ctr">
              <a:lnSpc>
                <a:spcPts val="1850"/>
              </a:lnSpc>
              <a:buNone/>
            </a:pPr>
            <a:r>
              <a:rPr lang="en-US" sz="1300" dirty="0">
                <a:solidFill>
                  <a:srgbClr val="DAD8E9"/>
                </a:solidFill>
                <a:latin typeface="Mukta Light" pitchFamily="34" charset="0"/>
                <a:ea typeface="Mukta Light" pitchFamily="34" charset="-122"/>
                <a:cs typeface="Mukta Light" pitchFamily="34" charset="-120"/>
              </a:rPr>
              <a:t>UW-23-CY-BS-18</a:t>
            </a:r>
            <a:endParaRPr lang="en-US" sz="1300" dirty="0"/>
          </a:p>
        </p:txBody>
      </p:sp>
      <p:sp>
        <p:nvSpPr>
          <p:cNvPr id="7" name="Text 3">
            <a:extLst>
              <a:ext uri="{FF2B5EF4-FFF2-40B4-BE49-F238E27FC236}">
                <a16:creationId xmlns:a16="http://schemas.microsoft.com/office/drawing/2014/main" id="{1D2959B5-0A22-0A3B-03ED-81CDA86B754B}"/>
              </a:ext>
            </a:extLst>
          </p:cNvPr>
          <p:cNvSpPr/>
          <p:nvPr/>
        </p:nvSpPr>
        <p:spPr>
          <a:xfrm>
            <a:off x="5609761" y="4631113"/>
            <a:ext cx="1887379" cy="235863"/>
          </a:xfrm>
          <a:prstGeom prst="rect">
            <a:avLst/>
          </a:prstGeom>
          <a:noFill/>
          <a:ln/>
        </p:spPr>
        <p:txBody>
          <a:bodyPr wrap="none" lIns="0" tIns="0" rIns="0" bIns="0" rtlCol="0" anchor="t"/>
          <a:lstStyle/>
          <a:p>
            <a:pPr marL="0" indent="0" algn="l">
              <a:lnSpc>
                <a:spcPts val="1850"/>
              </a:lnSpc>
              <a:buNone/>
            </a:pPr>
            <a:r>
              <a:rPr lang="en-US" sz="1450" dirty="0">
                <a:solidFill>
                  <a:srgbClr val="DAD8E9"/>
                </a:solidFill>
                <a:latin typeface="Prompt Medium" pitchFamily="34" charset="0"/>
                <a:ea typeface="Prompt Medium" pitchFamily="34" charset="-122"/>
                <a:cs typeface="Prompt Medium" pitchFamily="34" charset="-120"/>
              </a:rPr>
              <a:t>Aqsa Shezadi</a:t>
            </a:r>
            <a:endParaRPr lang="en-US" sz="1450" dirty="0"/>
          </a:p>
        </p:txBody>
      </p:sp>
      <p:sp>
        <p:nvSpPr>
          <p:cNvPr id="8" name="Text 4">
            <a:extLst>
              <a:ext uri="{FF2B5EF4-FFF2-40B4-BE49-F238E27FC236}">
                <a16:creationId xmlns:a16="http://schemas.microsoft.com/office/drawing/2014/main" id="{258CAFF4-EAA5-4F67-5F71-42AB788AF0E9}"/>
              </a:ext>
            </a:extLst>
          </p:cNvPr>
          <p:cNvSpPr/>
          <p:nvPr/>
        </p:nvSpPr>
        <p:spPr>
          <a:xfrm>
            <a:off x="5670721" y="4945557"/>
            <a:ext cx="5871686" cy="240625"/>
          </a:xfrm>
          <a:prstGeom prst="rect">
            <a:avLst/>
          </a:prstGeom>
          <a:noFill/>
          <a:ln/>
        </p:spPr>
        <p:txBody>
          <a:bodyPr wrap="none" lIns="0" tIns="0" rIns="0" bIns="0" rtlCol="0" anchor="t"/>
          <a:lstStyle/>
          <a:p>
            <a:pPr marL="0" indent="0" algn="l">
              <a:lnSpc>
                <a:spcPts val="1850"/>
              </a:lnSpc>
              <a:buNone/>
            </a:pPr>
            <a:r>
              <a:rPr lang="en-US" sz="1300" dirty="0">
                <a:solidFill>
                  <a:srgbClr val="DAD8E9"/>
                </a:solidFill>
                <a:latin typeface="Mukta Light" pitchFamily="34" charset="0"/>
                <a:ea typeface="Mukta Light" pitchFamily="34" charset="-122"/>
                <a:cs typeface="Mukta Light" pitchFamily="34" charset="-120"/>
              </a:rPr>
              <a:t>UW-23-CY-BS-021</a:t>
            </a:r>
            <a:endParaRPr lang="en-US" sz="1300" dirty="0"/>
          </a:p>
        </p:txBody>
      </p:sp>
      <p:sp>
        <p:nvSpPr>
          <p:cNvPr id="9" name="Text 0">
            <a:extLst>
              <a:ext uri="{FF2B5EF4-FFF2-40B4-BE49-F238E27FC236}">
                <a16:creationId xmlns:a16="http://schemas.microsoft.com/office/drawing/2014/main" id="{F3007572-8563-154E-DFB0-84F35E441206}"/>
              </a:ext>
            </a:extLst>
          </p:cNvPr>
          <p:cNvSpPr/>
          <p:nvPr/>
        </p:nvSpPr>
        <p:spPr>
          <a:xfrm>
            <a:off x="881063" y="3667957"/>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Group Members:</a:t>
            </a:r>
          </a:p>
        </p:txBody>
      </p:sp>
      <p:pic>
        <p:nvPicPr>
          <p:cNvPr id="10" name="Picture 9">
            <a:extLst>
              <a:ext uri="{FF2B5EF4-FFF2-40B4-BE49-F238E27FC236}">
                <a16:creationId xmlns:a16="http://schemas.microsoft.com/office/drawing/2014/main" id="{4759557B-EFF7-431C-A566-28CA86BB61AA}"/>
              </a:ext>
            </a:extLst>
          </p:cNvPr>
          <p:cNvPicPr>
            <a:picLocks noChangeAspect="1"/>
          </p:cNvPicPr>
          <p:nvPr/>
        </p:nvPicPr>
        <p:blipFill>
          <a:blip r:embed="rId3"/>
          <a:stretch>
            <a:fillRect/>
          </a:stretch>
        </p:blipFill>
        <p:spPr>
          <a:xfrm>
            <a:off x="12721572" y="7640060"/>
            <a:ext cx="1780674" cy="562449"/>
          </a:xfrm>
          <a:prstGeom prst="rect">
            <a:avLst/>
          </a:prstGeom>
        </p:spPr>
      </p:pic>
      <p:pic>
        <p:nvPicPr>
          <p:cNvPr id="2" name="Image 0" descr="preencoded.png"/>
          <p:cNvPicPr>
            <a:picLocks noChangeAspect="1"/>
          </p:cNvPicPr>
          <p:nvPr/>
        </p:nvPicPr>
        <p:blipFill>
          <a:blip r:embed="rId4"/>
          <a:stretch>
            <a:fillRect/>
          </a:stretch>
        </p:blipFill>
        <p:spPr>
          <a:xfrm>
            <a:off x="9144000" y="58264"/>
            <a:ext cx="5486400" cy="8229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81063" y="2211348"/>
            <a:ext cx="1029653" cy="414099"/>
          </a:xfrm>
          <a:prstGeom prst="roundRect">
            <a:avLst>
              <a:gd name="adj" fmla="val 17875"/>
            </a:avLst>
          </a:prstGeom>
          <a:solidFill>
            <a:srgbClr val="321A2C"/>
          </a:solidFill>
          <a:ln/>
        </p:spPr>
      </p:sp>
      <p:sp>
        <p:nvSpPr>
          <p:cNvPr id="3" name="Text 1"/>
          <p:cNvSpPr/>
          <p:nvPr/>
        </p:nvSpPr>
        <p:spPr>
          <a:xfrm>
            <a:off x="1013222" y="2277428"/>
            <a:ext cx="765334" cy="281940"/>
          </a:xfrm>
          <a:prstGeom prst="rect">
            <a:avLst/>
          </a:prstGeom>
          <a:noFill/>
          <a:ln/>
        </p:spPr>
        <p:txBody>
          <a:bodyPr wrap="none" lIns="0" tIns="0" rIns="0" bIns="0" rtlCol="0" anchor="t"/>
          <a:lstStyle/>
          <a:p>
            <a:pPr marL="0" indent="0" algn="l">
              <a:lnSpc>
                <a:spcPts val="2200"/>
              </a:lnSpc>
              <a:buNone/>
            </a:pPr>
            <a:r>
              <a:rPr lang="en-US" sz="1350" dirty="0">
                <a:solidFill>
                  <a:srgbClr val="DAD8E9"/>
                </a:solidFill>
                <a:latin typeface="Mukta Light" pitchFamily="34" charset="0"/>
                <a:ea typeface="Mukta Light" pitchFamily="34" charset="-122"/>
                <a:cs typeface="Mukta Light" pitchFamily="34" charset="-120"/>
              </a:rPr>
              <a:t>OVERVIEW</a:t>
            </a:r>
            <a:endParaRPr lang="en-US" sz="1350" dirty="0"/>
          </a:p>
        </p:txBody>
      </p:sp>
      <p:sp>
        <p:nvSpPr>
          <p:cNvPr id="4" name="Text 2"/>
          <p:cNvSpPr/>
          <p:nvPr/>
        </p:nvSpPr>
        <p:spPr>
          <a:xfrm>
            <a:off x="881063" y="2713553"/>
            <a:ext cx="9605843"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Introduction to GPA &amp; CGPA Calculation</a:t>
            </a:r>
            <a:endParaRPr lang="en-US" sz="3850" dirty="0"/>
          </a:p>
        </p:txBody>
      </p:sp>
      <p:sp>
        <p:nvSpPr>
          <p:cNvPr id="5" name="Text 3"/>
          <p:cNvSpPr/>
          <p:nvPr/>
        </p:nvSpPr>
        <p:spPr>
          <a:xfrm>
            <a:off x="881063" y="3655933"/>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GPA (Grade Point Average) and CGPA (Cumulative Grade Point Average) are fundamental metrics that define a student's academic standing. They synthesize individual course grades into a single, comprehensive score, crucial for scholarships, internships, and postgraduate admissions.</a:t>
            </a:r>
            <a:endParaRPr lang="en-US" sz="1700" dirty="0"/>
          </a:p>
        </p:txBody>
      </p:sp>
      <p:sp>
        <p:nvSpPr>
          <p:cNvPr id="6" name="Text 4"/>
          <p:cNvSpPr/>
          <p:nvPr/>
        </p:nvSpPr>
        <p:spPr>
          <a:xfrm>
            <a:off x="881063" y="4608552"/>
            <a:ext cx="12868275" cy="14097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Traditionally, calculating these metrics manually is a tedious and error-prone task. Our project tackles this challenge head-on by introducing an automated, highly efficient, and user-friendly system. The primary goal is to eliminate manual calculation burdens, providing students with an accurate and real-time reflection of their academic progress. This tool empowers students to monitor their performance, identify areas for improvement, and make informed academic decisions with unprecedented ease.</a:t>
            </a:r>
            <a:endParaRPr lang="en-US" sz="1700" dirty="0"/>
          </a:p>
        </p:txBody>
      </p:sp>
      <p:pic>
        <p:nvPicPr>
          <p:cNvPr id="7" name="Picture 6">
            <a:extLst>
              <a:ext uri="{FF2B5EF4-FFF2-40B4-BE49-F238E27FC236}">
                <a16:creationId xmlns:a16="http://schemas.microsoft.com/office/drawing/2014/main" id="{B2F0554A-7CFE-4218-8792-848DC1F21A2A}"/>
              </a:ext>
            </a:extLst>
          </p:cNvPr>
          <p:cNvPicPr>
            <a:picLocks noChangeAspect="1"/>
          </p:cNvPicPr>
          <p:nvPr/>
        </p:nvPicPr>
        <p:blipFill>
          <a:blip r:embed="rId3"/>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1451610"/>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The Problem with Existing Calculation Tools</a:t>
            </a:r>
            <a:endParaRPr lang="en-US" sz="3850" dirty="0"/>
          </a:p>
        </p:txBody>
      </p:sp>
      <p:sp>
        <p:nvSpPr>
          <p:cNvPr id="4" name="Text 1"/>
          <p:cNvSpPr/>
          <p:nvPr/>
        </p:nvSpPr>
        <p:spPr>
          <a:xfrm>
            <a:off x="6367462" y="3005971"/>
            <a:ext cx="7381875"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While numerous online calculators exist, many fail to meet basic usability standards. Students frequently encounter difficulties due to non-intuitive design, leading to incorrect data entry and frustration. Key issues include ambiguous input fields for grades and credits, a lack of clear instructions, and an absence of immediate feedback, making it hard to identify errors before submission.</a:t>
            </a:r>
            <a:endParaRPr lang="en-US" sz="1700" dirty="0"/>
          </a:p>
        </p:txBody>
      </p:sp>
      <p:sp>
        <p:nvSpPr>
          <p:cNvPr id="5" name="Text 2"/>
          <p:cNvSpPr/>
          <p:nvPr/>
        </p:nvSpPr>
        <p:spPr>
          <a:xfrm>
            <a:off x="6367462" y="5015865"/>
            <a:ext cx="7381875"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These shortcomings can severely impact academic planning. Inaccurate calculations can lead to misplaced academic goals, missed opportunities, and significant stress. The current landscape highlights a critical need for tools that prioritize user experience, ensuring accuracy and fostering confidence in academic assessments.</a:t>
            </a:r>
            <a:endParaRPr lang="en-US" sz="1700" dirty="0"/>
          </a:p>
        </p:txBody>
      </p:sp>
      <p:pic>
        <p:nvPicPr>
          <p:cNvPr id="6" name="Picture 5">
            <a:extLst>
              <a:ext uri="{FF2B5EF4-FFF2-40B4-BE49-F238E27FC236}">
                <a16:creationId xmlns:a16="http://schemas.microsoft.com/office/drawing/2014/main" id="{A27452AB-68DD-4961-9EEC-6049609EF907}"/>
              </a:ext>
            </a:extLst>
          </p:cNvPr>
          <p:cNvPicPr>
            <a:picLocks noChangeAspect="1"/>
          </p:cNvPicPr>
          <p:nvPr/>
        </p:nvPicPr>
        <p:blipFill>
          <a:blip r:embed="rId4"/>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1233726"/>
            <a:ext cx="8677751"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Recurring Issues in Existing Systems</a:t>
            </a:r>
            <a:endParaRPr lang="en-US" sz="3850" dirty="0"/>
          </a:p>
        </p:txBody>
      </p:sp>
      <p:sp>
        <p:nvSpPr>
          <p:cNvPr id="3" name="Text 1"/>
          <p:cNvSpPr/>
          <p:nvPr/>
        </p:nvSpPr>
        <p:spPr>
          <a:xfrm>
            <a:off x="881063" y="2286238"/>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A comprehensive analysis of current GPA/CGPA calculators reveals a pattern of neglect for user experience, despite their functional capabilities. Existing platforms often prioritize raw calculation over intuitive design.</a:t>
            </a:r>
            <a:endParaRPr lang="en-US" sz="1700" dirty="0"/>
          </a:p>
        </p:txBody>
      </p:sp>
      <p:sp>
        <p:nvSpPr>
          <p:cNvPr id="4" name="Shape 2"/>
          <p:cNvSpPr/>
          <p:nvPr/>
        </p:nvSpPr>
        <p:spPr>
          <a:xfrm>
            <a:off x="881063" y="3238857"/>
            <a:ext cx="6324005" cy="1292066"/>
          </a:xfrm>
          <a:prstGeom prst="roundRect">
            <a:avLst>
              <a:gd name="adj" fmla="val 11323"/>
            </a:avLst>
          </a:prstGeom>
          <a:solidFill>
            <a:srgbClr val="0B0C23">
              <a:alpha val="95000"/>
            </a:srgbClr>
          </a:solidFill>
          <a:ln w="30480">
            <a:solidFill>
              <a:srgbClr val="6D4562"/>
            </a:solidFill>
            <a:prstDash val="solid"/>
          </a:ln>
        </p:spPr>
      </p:sp>
      <p:sp>
        <p:nvSpPr>
          <p:cNvPr id="5" name="Shape 3"/>
          <p:cNvSpPr/>
          <p:nvPr/>
        </p:nvSpPr>
        <p:spPr>
          <a:xfrm>
            <a:off x="850583" y="3238857"/>
            <a:ext cx="121920" cy="1292066"/>
          </a:xfrm>
          <a:prstGeom prst="roundRect">
            <a:avLst>
              <a:gd name="adj" fmla="val 75889"/>
            </a:avLst>
          </a:prstGeom>
          <a:solidFill>
            <a:srgbClr val="A95B95"/>
          </a:solidFill>
          <a:ln/>
        </p:spPr>
      </p:sp>
      <p:sp>
        <p:nvSpPr>
          <p:cNvPr id="6" name="Text 4"/>
          <p:cNvSpPr/>
          <p:nvPr/>
        </p:nvSpPr>
        <p:spPr>
          <a:xfrm>
            <a:off x="1223248" y="3489603"/>
            <a:ext cx="2691408"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Confusing Input Forms</a:t>
            </a:r>
            <a:endParaRPr lang="en-US" sz="1900" dirty="0"/>
          </a:p>
        </p:txBody>
      </p:sp>
      <p:sp>
        <p:nvSpPr>
          <p:cNvPr id="7" name="Text 5"/>
          <p:cNvSpPr/>
          <p:nvPr/>
        </p:nvSpPr>
        <p:spPr>
          <a:xfrm>
            <a:off x="1223248" y="3927753"/>
            <a:ext cx="5731073"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Lack of clear labels and error prevention mechanisms.</a:t>
            </a:r>
            <a:endParaRPr lang="en-US" sz="1700" dirty="0"/>
          </a:p>
        </p:txBody>
      </p:sp>
      <p:sp>
        <p:nvSpPr>
          <p:cNvPr id="8" name="Shape 6"/>
          <p:cNvSpPr/>
          <p:nvPr/>
        </p:nvSpPr>
        <p:spPr>
          <a:xfrm>
            <a:off x="7425333" y="3238857"/>
            <a:ext cx="6324005" cy="1292066"/>
          </a:xfrm>
          <a:prstGeom prst="roundRect">
            <a:avLst>
              <a:gd name="adj" fmla="val 11323"/>
            </a:avLst>
          </a:prstGeom>
          <a:solidFill>
            <a:srgbClr val="0B0C23">
              <a:alpha val="95000"/>
            </a:srgbClr>
          </a:solidFill>
          <a:ln w="30480">
            <a:solidFill>
              <a:srgbClr val="6D4562"/>
            </a:solidFill>
            <a:prstDash val="solid"/>
          </a:ln>
        </p:spPr>
      </p:sp>
      <p:sp>
        <p:nvSpPr>
          <p:cNvPr id="9" name="Shape 7"/>
          <p:cNvSpPr/>
          <p:nvPr/>
        </p:nvSpPr>
        <p:spPr>
          <a:xfrm>
            <a:off x="7394853" y="3238857"/>
            <a:ext cx="121920" cy="1292066"/>
          </a:xfrm>
          <a:prstGeom prst="roundRect">
            <a:avLst>
              <a:gd name="adj" fmla="val 75889"/>
            </a:avLst>
          </a:prstGeom>
          <a:solidFill>
            <a:srgbClr val="A95B95"/>
          </a:solidFill>
          <a:ln/>
        </p:spPr>
      </p:sp>
      <p:sp>
        <p:nvSpPr>
          <p:cNvPr id="10" name="Text 8"/>
          <p:cNvSpPr/>
          <p:nvPr/>
        </p:nvSpPr>
        <p:spPr>
          <a:xfrm>
            <a:off x="7767518" y="3489603"/>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No Guidance</a:t>
            </a:r>
            <a:endParaRPr lang="en-US" sz="1900" dirty="0"/>
          </a:p>
        </p:txBody>
      </p:sp>
      <p:sp>
        <p:nvSpPr>
          <p:cNvPr id="11" name="Text 9"/>
          <p:cNvSpPr/>
          <p:nvPr/>
        </p:nvSpPr>
        <p:spPr>
          <a:xfrm>
            <a:off x="7767518" y="3927753"/>
            <a:ext cx="5731073"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Absence of instructions for grading scales and credit input.</a:t>
            </a:r>
            <a:endParaRPr lang="en-US" sz="1700" dirty="0"/>
          </a:p>
        </p:txBody>
      </p:sp>
      <p:sp>
        <p:nvSpPr>
          <p:cNvPr id="12" name="Shape 10"/>
          <p:cNvSpPr/>
          <p:nvPr/>
        </p:nvSpPr>
        <p:spPr>
          <a:xfrm>
            <a:off x="881063" y="4751189"/>
            <a:ext cx="6324005" cy="1292066"/>
          </a:xfrm>
          <a:prstGeom prst="roundRect">
            <a:avLst>
              <a:gd name="adj" fmla="val 11323"/>
            </a:avLst>
          </a:prstGeom>
          <a:solidFill>
            <a:srgbClr val="0B0C23">
              <a:alpha val="95000"/>
            </a:srgbClr>
          </a:solidFill>
          <a:ln w="30480">
            <a:solidFill>
              <a:srgbClr val="6D4562"/>
            </a:solidFill>
            <a:prstDash val="solid"/>
          </a:ln>
        </p:spPr>
        <p:txBody>
          <a:bodyPr/>
          <a:lstStyle/>
          <a:p>
            <a:endParaRPr lang="en-US" dirty="0"/>
          </a:p>
        </p:txBody>
      </p:sp>
      <p:sp>
        <p:nvSpPr>
          <p:cNvPr id="13" name="Shape 11"/>
          <p:cNvSpPr/>
          <p:nvPr/>
        </p:nvSpPr>
        <p:spPr>
          <a:xfrm>
            <a:off x="850583" y="4751189"/>
            <a:ext cx="121920" cy="1292066"/>
          </a:xfrm>
          <a:prstGeom prst="roundRect">
            <a:avLst>
              <a:gd name="adj" fmla="val 75889"/>
            </a:avLst>
          </a:prstGeom>
          <a:solidFill>
            <a:srgbClr val="A95B95"/>
          </a:solidFill>
          <a:ln/>
        </p:spPr>
      </p:sp>
      <p:sp>
        <p:nvSpPr>
          <p:cNvPr id="14" name="Text 12"/>
          <p:cNvSpPr/>
          <p:nvPr/>
        </p:nvSpPr>
        <p:spPr>
          <a:xfrm>
            <a:off x="1223248" y="5001935"/>
            <a:ext cx="340149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High Cognitive Load</a:t>
            </a:r>
            <a:endParaRPr lang="en-US" sz="1900" dirty="0"/>
          </a:p>
        </p:txBody>
      </p:sp>
      <p:sp>
        <p:nvSpPr>
          <p:cNvPr id="15" name="Text 13"/>
          <p:cNvSpPr/>
          <p:nvPr/>
        </p:nvSpPr>
        <p:spPr>
          <a:xfrm>
            <a:off x="1223248" y="5440085"/>
            <a:ext cx="5731073"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bulk of information increases confusion.</a:t>
            </a:r>
            <a:endParaRPr lang="en-US" sz="1700" dirty="0"/>
          </a:p>
        </p:txBody>
      </p:sp>
      <p:sp>
        <p:nvSpPr>
          <p:cNvPr id="16" name="Shape 14"/>
          <p:cNvSpPr/>
          <p:nvPr/>
        </p:nvSpPr>
        <p:spPr>
          <a:xfrm>
            <a:off x="7425333" y="4751189"/>
            <a:ext cx="6324005" cy="1292066"/>
          </a:xfrm>
          <a:prstGeom prst="roundRect">
            <a:avLst>
              <a:gd name="adj" fmla="val 11323"/>
            </a:avLst>
          </a:prstGeom>
          <a:solidFill>
            <a:srgbClr val="0B0C23">
              <a:alpha val="95000"/>
            </a:srgbClr>
          </a:solidFill>
          <a:ln w="30480">
            <a:solidFill>
              <a:srgbClr val="6D4562"/>
            </a:solidFill>
            <a:prstDash val="solid"/>
          </a:ln>
        </p:spPr>
      </p:sp>
      <p:sp>
        <p:nvSpPr>
          <p:cNvPr id="17" name="Shape 15"/>
          <p:cNvSpPr/>
          <p:nvPr/>
        </p:nvSpPr>
        <p:spPr>
          <a:xfrm>
            <a:off x="7394853" y="4751189"/>
            <a:ext cx="121920" cy="1292066"/>
          </a:xfrm>
          <a:prstGeom prst="roundRect">
            <a:avLst>
              <a:gd name="adj" fmla="val 75889"/>
            </a:avLst>
          </a:prstGeom>
          <a:solidFill>
            <a:srgbClr val="A95B95"/>
          </a:solidFill>
          <a:ln/>
        </p:spPr>
      </p:sp>
      <p:sp>
        <p:nvSpPr>
          <p:cNvPr id="18" name="Text 16"/>
          <p:cNvSpPr/>
          <p:nvPr/>
        </p:nvSpPr>
        <p:spPr>
          <a:xfrm>
            <a:off x="7767518" y="5001935"/>
            <a:ext cx="2901910"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Poor Learnability</a:t>
            </a:r>
            <a:endParaRPr lang="en-US" sz="1900" dirty="0"/>
          </a:p>
        </p:txBody>
      </p:sp>
      <p:sp>
        <p:nvSpPr>
          <p:cNvPr id="19" name="Text 17"/>
          <p:cNvSpPr/>
          <p:nvPr/>
        </p:nvSpPr>
        <p:spPr>
          <a:xfrm>
            <a:off x="7767518" y="5440085"/>
            <a:ext cx="5731073"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Novice users have difficulty learning how to use the system.</a:t>
            </a:r>
            <a:endParaRPr lang="en-US" sz="1700" dirty="0"/>
          </a:p>
        </p:txBody>
      </p:sp>
      <p:sp>
        <p:nvSpPr>
          <p:cNvPr id="20" name="Text 18"/>
          <p:cNvSpPr/>
          <p:nvPr/>
        </p:nvSpPr>
        <p:spPr>
          <a:xfrm>
            <a:off x="881063" y="6291024"/>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These issues collectively lead to significant user frustration and reduce the reliability of the results, underscoring the need for a more thoughtful design approach.</a:t>
            </a:r>
            <a:endParaRPr lang="en-US" sz="1700" dirty="0"/>
          </a:p>
        </p:txBody>
      </p:sp>
      <p:pic>
        <p:nvPicPr>
          <p:cNvPr id="21" name="Picture 20">
            <a:extLst>
              <a:ext uri="{FF2B5EF4-FFF2-40B4-BE49-F238E27FC236}">
                <a16:creationId xmlns:a16="http://schemas.microsoft.com/office/drawing/2014/main" id="{23A4B110-D521-4910-8959-8D4708008708}"/>
              </a:ext>
            </a:extLst>
          </p:cNvPr>
          <p:cNvPicPr>
            <a:picLocks noChangeAspect="1"/>
          </p:cNvPicPr>
          <p:nvPr/>
        </p:nvPicPr>
        <p:blipFill>
          <a:blip r:embed="rId3"/>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81063" y="2035135"/>
            <a:ext cx="1185743" cy="414099"/>
          </a:xfrm>
          <a:prstGeom prst="roundRect">
            <a:avLst>
              <a:gd name="adj" fmla="val 17875"/>
            </a:avLst>
          </a:prstGeom>
          <a:solidFill>
            <a:srgbClr val="321A2C"/>
          </a:solidFill>
          <a:ln/>
        </p:spPr>
      </p:sp>
      <p:sp>
        <p:nvSpPr>
          <p:cNvPr id="3" name="Text 1"/>
          <p:cNvSpPr/>
          <p:nvPr/>
        </p:nvSpPr>
        <p:spPr>
          <a:xfrm>
            <a:off x="1013222" y="2101215"/>
            <a:ext cx="921425" cy="281940"/>
          </a:xfrm>
          <a:prstGeom prst="rect">
            <a:avLst/>
          </a:prstGeom>
          <a:noFill/>
          <a:ln/>
        </p:spPr>
        <p:txBody>
          <a:bodyPr wrap="none" lIns="0" tIns="0" rIns="0" bIns="0" rtlCol="0" anchor="t"/>
          <a:lstStyle/>
          <a:p>
            <a:pPr marL="0" indent="0" algn="l">
              <a:lnSpc>
                <a:spcPts val="2200"/>
              </a:lnSpc>
              <a:buNone/>
            </a:pPr>
            <a:r>
              <a:rPr lang="en-US" sz="1350" dirty="0">
                <a:solidFill>
                  <a:srgbClr val="DAD8E9"/>
                </a:solidFill>
                <a:latin typeface="Mukta Light" pitchFamily="34" charset="0"/>
                <a:ea typeface="Mukta Light" pitchFamily="34" charset="-122"/>
                <a:cs typeface="Mukta Light" pitchFamily="34" charset="-120"/>
              </a:rPr>
              <a:t>INNOVATION</a:t>
            </a:r>
            <a:endParaRPr lang="en-US" sz="1350" dirty="0"/>
          </a:p>
        </p:txBody>
      </p:sp>
      <p:sp>
        <p:nvSpPr>
          <p:cNvPr id="4" name="Text 2"/>
          <p:cNvSpPr/>
          <p:nvPr/>
        </p:nvSpPr>
        <p:spPr>
          <a:xfrm>
            <a:off x="881063" y="2537341"/>
            <a:ext cx="11759446"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Our Solution: An Intuitive &amp; Intelligent Calculator</a:t>
            </a:r>
            <a:endParaRPr lang="en-US" sz="3850" dirty="0"/>
          </a:p>
        </p:txBody>
      </p:sp>
      <p:sp>
        <p:nvSpPr>
          <p:cNvPr id="5" name="Text 3"/>
          <p:cNvSpPr/>
          <p:nvPr/>
        </p:nvSpPr>
        <p:spPr>
          <a:xfrm>
            <a:off x="881063" y="3479721"/>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We have developed an interactive CGPA calculator that stands apart through its unwavering focus on user experience. Our solution offers clear input validation and provides real-time feedback, guiding users through each step of the calculation process.</a:t>
            </a:r>
            <a:endParaRPr lang="en-US" sz="1700" dirty="0"/>
          </a:p>
        </p:txBody>
      </p:sp>
      <p:sp>
        <p:nvSpPr>
          <p:cNvPr id="6" name="Text 4"/>
          <p:cNvSpPr/>
          <p:nvPr/>
        </p:nvSpPr>
        <p:spPr>
          <a:xfrm>
            <a:off x="881063" y="4432340"/>
            <a:ext cx="12868275"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system is versatile, supporting multiple grading scales (4.0, 5.0, 10.0) and intelligently handling credit weighting to ensure precise results. Its responsive design guarantees seamless functionality across all devices, from desktops to mobile phones. The core novelty lies in its deep integration of Human-Computer Interaction (HCI) principles, designed to minimize cognitive load and maximize user satisfaction. Furthermore our approach offers insightful data representations, transforming raw numbers into actionable insights for students.</a:t>
            </a:r>
            <a:endParaRPr lang="en-US" sz="1700" dirty="0"/>
          </a:p>
        </p:txBody>
      </p:sp>
      <p:pic>
        <p:nvPicPr>
          <p:cNvPr id="7" name="Picture 6">
            <a:extLst>
              <a:ext uri="{FF2B5EF4-FFF2-40B4-BE49-F238E27FC236}">
                <a16:creationId xmlns:a16="http://schemas.microsoft.com/office/drawing/2014/main" id="{E15060F0-D33C-40FF-A366-CE9285346569}"/>
              </a:ext>
            </a:extLst>
          </p:cNvPr>
          <p:cNvPicPr>
            <a:picLocks noChangeAspect="1"/>
          </p:cNvPicPr>
          <p:nvPr/>
        </p:nvPicPr>
        <p:blipFill>
          <a:blip r:embed="rId3"/>
          <a:stretch>
            <a:fillRect/>
          </a:stretch>
        </p:blipFill>
        <p:spPr>
          <a:xfrm>
            <a:off x="12849726" y="7640061"/>
            <a:ext cx="1780674" cy="562449"/>
          </a:xfrm>
          <a:prstGeom prst="rect">
            <a:avLst/>
          </a:prstGeom>
        </p:spPr>
      </p:pic>
      <p:pic>
        <p:nvPicPr>
          <p:cNvPr id="8" name="Picture 7">
            <a:extLst>
              <a:ext uri="{FF2B5EF4-FFF2-40B4-BE49-F238E27FC236}">
                <a16:creationId xmlns:a16="http://schemas.microsoft.com/office/drawing/2014/main" id="{1D35AE36-7D88-1839-744B-071F71A1487C}"/>
              </a:ext>
            </a:extLst>
          </p:cNvPr>
          <p:cNvPicPr>
            <a:picLocks noChangeAspect="1"/>
          </p:cNvPicPr>
          <p:nvPr/>
        </p:nvPicPr>
        <p:blipFill>
          <a:blip r:embed="rId3"/>
          <a:stretch>
            <a:fillRect/>
          </a:stretch>
        </p:blipFill>
        <p:spPr>
          <a:xfrm>
            <a:off x="12721572" y="7640060"/>
            <a:ext cx="1780674" cy="562449"/>
          </a:xfrm>
          <a:prstGeom prst="rect">
            <a:avLst/>
          </a:prstGeom>
        </p:spPr>
      </p:pic>
      <p:pic>
        <p:nvPicPr>
          <p:cNvPr id="9" name="Picture 8">
            <a:extLst>
              <a:ext uri="{FF2B5EF4-FFF2-40B4-BE49-F238E27FC236}">
                <a16:creationId xmlns:a16="http://schemas.microsoft.com/office/drawing/2014/main" id="{9514CE12-8388-D824-BEF6-5D25514783FC}"/>
              </a:ext>
            </a:extLst>
          </p:cNvPr>
          <p:cNvPicPr>
            <a:picLocks noChangeAspect="1"/>
          </p:cNvPicPr>
          <p:nvPr/>
        </p:nvPicPr>
        <p:blipFill>
          <a:blip r:embed="rId3"/>
          <a:stretch>
            <a:fillRect/>
          </a:stretch>
        </p:blipFill>
        <p:spPr>
          <a:xfrm>
            <a:off x="12849726" y="7646318"/>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881063" y="1275398"/>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HCI Impact: Addressing Usability Challenges</a:t>
            </a:r>
            <a:endParaRPr lang="en-US" sz="3850" dirty="0"/>
          </a:p>
        </p:txBody>
      </p:sp>
      <p:sp>
        <p:nvSpPr>
          <p:cNvPr id="4" name="Text 1"/>
          <p:cNvSpPr/>
          <p:nvPr/>
        </p:nvSpPr>
        <p:spPr>
          <a:xfrm>
            <a:off x="881063" y="2829758"/>
            <a:ext cx="7381875"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deficiencies in existing GPA/CGPA calculators have a profound HCI impact. Poor interface design directly contributes to user errors, leading to a lack of trust in the calculated results. Users are forced to invest additional mental effort, increasing cognitive load as they struggle to manually convert grades or accurately input credit hours.</a:t>
            </a:r>
            <a:endParaRPr lang="en-US" sz="1700" dirty="0"/>
          </a:p>
        </p:txBody>
      </p:sp>
      <p:sp>
        <p:nvSpPr>
          <p:cNvPr id="5" name="Text 2"/>
          <p:cNvSpPr/>
          <p:nvPr/>
        </p:nvSpPr>
        <p:spPr>
          <a:xfrm>
            <a:off x="881063" y="4839653"/>
            <a:ext cx="7381875" cy="21145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Our project directly confronts these challenges by applying the PACT framework (People, Activities, Contexts, Technologies) to design. This human-centered approach ensures that the calculator is not just functional but also inherently usable, accessible, and trustworthy, thereby enhancing the overall user experience.</a:t>
            </a:r>
            <a:endParaRPr lang="en-US" sz="1700" dirty="0"/>
          </a:p>
        </p:txBody>
      </p:sp>
      <p:pic>
        <p:nvPicPr>
          <p:cNvPr id="6" name="Picture 5">
            <a:extLst>
              <a:ext uri="{FF2B5EF4-FFF2-40B4-BE49-F238E27FC236}">
                <a16:creationId xmlns:a16="http://schemas.microsoft.com/office/drawing/2014/main" id="{4FCEC9C6-44B6-99A2-873B-31A967AEB437}"/>
              </a:ext>
            </a:extLst>
          </p:cNvPr>
          <p:cNvPicPr>
            <a:picLocks noChangeAspect="1"/>
          </p:cNvPicPr>
          <p:nvPr/>
        </p:nvPicPr>
        <p:blipFill>
          <a:blip r:embed="rId3"/>
          <a:stretch>
            <a:fillRect/>
          </a:stretch>
        </p:blipFill>
        <p:spPr>
          <a:xfrm>
            <a:off x="12752745" y="7629669"/>
            <a:ext cx="1780674" cy="562449"/>
          </a:xfrm>
          <a:prstGeom prst="rect">
            <a:avLst/>
          </a:prstGeom>
        </p:spPr>
      </p:pic>
      <p:pic>
        <p:nvPicPr>
          <p:cNvPr id="2" name="Image 0" descr="preencoded.png"/>
          <p:cNvPicPr>
            <a:picLocks noChangeAspect="1"/>
          </p:cNvPicPr>
          <p:nvPr/>
        </p:nvPicPr>
        <p:blipFill>
          <a:blip r:embed="rId4"/>
          <a:stretch>
            <a:fillRect/>
          </a:stretch>
        </p:blipFill>
        <p:spPr>
          <a:xfrm>
            <a:off x="9144000" y="1200"/>
            <a:ext cx="5486400" cy="8229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378273" y="543282"/>
            <a:ext cx="782122" cy="231934"/>
          </a:xfrm>
          <a:prstGeom prst="roundRect">
            <a:avLst>
              <a:gd name="adj" fmla="val 20407"/>
            </a:avLst>
          </a:prstGeom>
          <a:solidFill>
            <a:srgbClr val="321A2C"/>
          </a:solidFill>
          <a:ln/>
        </p:spPr>
      </p:sp>
      <p:sp>
        <p:nvSpPr>
          <p:cNvPr id="3" name="Text 1"/>
          <p:cNvSpPr/>
          <p:nvPr/>
        </p:nvSpPr>
        <p:spPr>
          <a:xfrm>
            <a:off x="2462689" y="585430"/>
            <a:ext cx="613291" cy="147638"/>
          </a:xfrm>
          <a:prstGeom prst="rect">
            <a:avLst/>
          </a:prstGeom>
          <a:noFill/>
          <a:ln/>
        </p:spPr>
        <p:txBody>
          <a:bodyPr wrap="none" lIns="0" tIns="0" rIns="0" bIns="0" rtlCol="0" anchor="t"/>
          <a:lstStyle/>
          <a:p>
            <a:pPr marL="0" indent="0" algn="l">
              <a:lnSpc>
                <a:spcPts val="1150"/>
              </a:lnSpc>
              <a:buNone/>
            </a:pPr>
            <a:r>
              <a:rPr lang="en-US" sz="850" dirty="0">
                <a:solidFill>
                  <a:srgbClr val="DAD8E9"/>
                </a:solidFill>
                <a:latin typeface="Mukta Light" pitchFamily="34" charset="0"/>
                <a:ea typeface="Mukta Light" pitchFamily="34" charset="-122"/>
                <a:cs typeface="Mukta Light" pitchFamily="34" charset="-120"/>
              </a:rPr>
              <a:t>FRAMEWORK</a:t>
            </a:r>
            <a:endParaRPr lang="en-US" sz="850" dirty="0"/>
          </a:p>
        </p:txBody>
      </p:sp>
      <p:sp>
        <p:nvSpPr>
          <p:cNvPr id="4" name="Text 2"/>
          <p:cNvSpPr/>
          <p:nvPr/>
        </p:nvSpPr>
        <p:spPr>
          <a:xfrm>
            <a:off x="2378273" y="811173"/>
            <a:ext cx="7379375" cy="391239"/>
          </a:xfrm>
          <a:prstGeom prst="rect">
            <a:avLst/>
          </a:prstGeom>
          <a:noFill/>
          <a:ln/>
        </p:spPr>
        <p:txBody>
          <a:bodyPr wrap="none" lIns="0" tIns="0" rIns="0" bIns="0" rtlCol="0" anchor="t"/>
          <a:lstStyle/>
          <a:p>
            <a:pPr marL="0" indent="0" algn="l">
              <a:lnSpc>
                <a:spcPts val="3050"/>
              </a:lnSpc>
              <a:buNone/>
            </a:pPr>
            <a:r>
              <a:rPr lang="en-US" sz="2450" dirty="0">
                <a:solidFill>
                  <a:srgbClr val="C6BFEE"/>
                </a:solidFill>
                <a:latin typeface="Prompt Medium" pitchFamily="34" charset="0"/>
                <a:ea typeface="Prompt Medium" pitchFamily="34" charset="-122"/>
                <a:cs typeface="Prompt Medium" pitchFamily="34" charset="-120"/>
              </a:rPr>
              <a:t>PACT Analysis: A User-Centric Design Approach</a:t>
            </a:r>
            <a:endParaRPr lang="en-US" sz="2450" dirty="0"/>
          </a:p>
        </p:txBody>
      </p:sp>
      <p:pic>
        <p:nvPicPr>
          <p:cNvPr id="5" name="Image 0" descr="preencoded.png"/>
          <p:cNvPicPr>
            <a:picLocks noChangeAspect="1"/>
          </p:cNvPicPr>
          <p:nvPr/>
        </p:nvPicPr>
        <p:blipFill>
          <a:blip r:embed="rId3"/>
          <a:stretch>
            <a:fillRect/>
          </a:stretch>
        </p:blipFill>
        <p:spPr>
          <a:xfrm>
            <a:off x="2550438" y="1337429"/>
            <a:ext cx="9529405" cy="4657963"/>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02994" y="2432202"/>
            <a:ext cx="345578" cy="345578"/>
          </a:xfrm>
          <a:prstGeom prst="rect">
            <a:avLst/>
          </a:prstGeom>
        </p:spPr>
      </p:pic>
      <p:sp>
        <p:nvSpPr>
          <p:cNvPr id="7" name="Text 3"/>
          <p:cNvSpPr/>
          <p:nvPr/>
        </p:nvSpPr>
        <p:spPr>
          <a:xfrm>
            <a:off x="3395323" y="2955505"/>
            <a:ext cx="1974729" cy="246841"/>
          </a:xfrm>
          <a:prstGeom prst="rect">
            <a:avLst/>
          </a:prstGeom>
          <a:noFill/>
          <a:ln/>
        </p:spPr>
        <p:txBody>
          <a:bodyPr wrap="non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People</a:t>
            </a:r>
            <a:endParaRPr lang="en-US" sz="12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23535" y="3123357"/>
            <a:ext cx="345578" cy="345578"/>
          </a:xfrm>
          <a:prstGeom prst="rect">
            <a:avLst/>
          </a:prstGeom>
        </p:spPr>
      </p:pic>
      <p:sp>
        <p:nvSpPr>
          <p:cNvPr id="9" name="Text 4"/>
          <p:cNvSpPr/>
          <p:nvPr/>
        </p:nvSpPr>
        <p:spPr>
          <a:xfrm>
            <a:off x="8164294" y="1889152"/>
            <a:ext cx="1974728" cy="246841"/>
          </a:xfrm>
          <a:prstGeom prst="rect">
            <a:avLst/>
          </a:prstGeom>
          <a:noFill/>
          <a:ln/>
        </p:spPr>
        <p:txBody>
          <a:bodyPr wrap="non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Activities</a:t>
            </a:r>
            <a:endParaRPr lang="en-US" sz="12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71721" y="4574783"/>
            <a:ext cx="345578" cy="345578"/>
          </a:xfrm>
          <a:prstGeom prst="rect">
            <a:avLst/>
          </a:prstGeom>
        </p:spPr>
      </p:pic>
      <p:sp>
        <p:nvSpPr>
          <p:cNvPr id="11" name="Text 5"/>
          <p:cNvSpPr/>
          <p:nvPr/>
        </p:nvSpPr>
        <p:spPr>
          <a:xfrm>
            <a:off x="9260114" y="4081101"/>
            <a:ext cx="1974729" cy="246841"/>
          </a:xfrm>
          <a:prstGeom prst="rect">
            <a:avLst/>
          </a:prstGeom>
          <a:noFill/>
          <a:ln/>
        </p:spPr>
        <p:txBody>
          <a:bodyPr wrap="non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Contexts</a:t>
            </a:r>
            <a:endParaRPr lang="en-US" sz="1200" dirty="0"/>
          </a:p>
        </p:txBody>
      </p:sp>
      <p:pic>
        <p:nvPicPr>
          <p:cNvPr id="12"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1334" y="3923122"/>
            <a:ext cx="345577" cy="345578"/>
          </a:xfrm>
          <a:prstGeom prst="rect">
            <a:avLst/>
          </a:prstGeom>
        </p:spPr>
      </p:pic>
      <p:sp>
        <p:nvSpPr>
          <p:cNvPr id="13" name="Text 6"/>
          <p:cNvSpPr/>
          <p:nvPr/>
        </p:nvSpPr>
        <p:spPr>
          <a:xfrm>
            <a:off x="4481424" y="5167202"/>
            <a:ext cx="1974729" cy="246841"/>
          </a:xfrm>
          <a:prstGeom prst="rect">
            <a:avLst/>
          </a:prstGeom>
          <a:noFill/>
          <a:ln/>
        </p:spPr>
        <p:txBody>
          <a:bodyPr wrap="non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Technologies</a:t>
            </a:r>
            <a:endParaRPr lang="en-US" sz="1200" dirty="0"/>
          </a:p>
        </p:txBody>
      </p:sp>
      <p:sp>
        <p:nvSpPr>
          <p:cNvPr id="14" name="Text 7"/>
          <p:cNvSpPr/>
          <p:nvPr/>
        </p:nvSpPr>
        <p:spPr>
          <a:xfrm>
            <a:off x="2378273" y="6096714"/>
            <a:ext cx="9873853" cy="184666"/>
          </a:xfrm>
          <a:prstGeom prst="rect">
            <a:avLst/>
          </a:prstGeom>
          <a:noFill/>
          <a:ln/>
        </p:spPr>
        <p:txBody>
          <a:bodyPr wrap="none" lIns="0" tIns="0" rIns="0" bIns="0" rtlCol="0" anchor="t"/>
          <a:lstStyle/>
          <a:p>
            <a:pPr marL="0" indent="0" algn="l">
              <a:lnSpc>
                <a:spcPts val="1450"/>
              </a:lnSpc>
              <a:buNone/>
            </a:pPr>
            <a:r>
              <a:rPr lang="en-US" sz="1100" dirty="0">
                <a:solidFill>
                  <a:srgbClr val="DAD8E9"/>
                </a:solidFill>
                <a:latin typeface="Mukta Light" pitchFamily="34" charset="0"/>
                <a:ea typeface="Mukta Light" pitchFamily="34" charset="-122"/>
                <a:cs typeface="Mukta Light" pitchFamily="34" charset="-120"/>
              </a:rPr>
              <a:t>Our design philosophy is rooted in the PACT analysis, a holistic framework that considers four critical aspects of interaction design:</a:t>
            </a:r>
            <a:endParaRPr lang="en-US" sz="1100" dirty="0"/>
          </a:p>
        </p:txBody>
      </p:sp>
      <p:sp>
        <p:nvSpPr>
          <p:cNvPr id="15" name="Text 8"/>
          <p:cNvSpPr/>
          <p:nvPr/>
        </p:nvSpPr>
        <p:spPr>
          <a:xfrm>
            <a:off x="2378273" y="6382702"/>
            <a:ext cx="9873853" cy="923746"/>
          </a:xfrm>
          <a:prstGeom prst="rect">
            <a:avLst/>
          </a:prstGeom>
          <a:noFill/>
          <a:ln/>
        </p:spPr>
        <p:txBody>
          <a:bodyPr wrap="square" lIns="0" tIns="0" rIns="0" bIns="0" rtlCol="0" anchor="t"/>
          <a:lstStyle/>
          <a:p>
            <a:pPr marL="342900" indent="-342900" algn="l">
              <a:lnSpc>
                <a:spcPts val="1450"/>
              </a:lnSpc>
              <a:buSzPct val="100000"/>
              <a:buChar char="•"/>
            </a:pPr>
            <a:r>
              <a:rPr lang="en-US" sz="1100" b="1" dirty="0">
                <a:solidFill>
                  <a:srgbClr val="DAD8E9"/>
                </a:solidFill>
                <a:latin typeface="Mukta Light" pitchFamily="34" charset="0"/>
                <a:ea typeface="Mukta Light" pitchFamily="34" charset="-122"/>
                <a:cs typeface="Mukta Light" pitchFamily="34" charset="-120"/>
              </a:rPr>
              <a:t>People:</a:t>
            </a:r>
            <a:r>
              <a:rPr lang="en-US" sz="1100" dirty="0">
                <a:solidFill>
                  <a:srgbClr val="DAD8E9"/>
                </a:solidFill>
                <a:latin typeface="Mukta Light" pitchFamily="34" charset="0"/>
                <a:ea typeface="Mukta Light" pitchFamily="34" charset="-122"/>
                <a:cs typeface="Mukta Light" pitchFamily="34" charset="-120"/>
              </a:rPr>
              <a:t> We cater to a diverse student population, recognizing varying levels of tech proficiency, academic backgrounds, and specific needs.</a:t>
            </a:r>
            <a:endParaRPr lang="en-US" sz="1100" dirty="0"/>
          </a:p>
          <a:p>
            <a:pPr marL="342900" indent="-342900" algn="l">
              <a:lnSpc>
                <a:spcPts val="1450"/>
              </a:lnSpc>
              <a:buSzPct val="100000"/>
              <a:buChar char="•"/>
            </a:pPr>
            <a:r>
              <a:rPr lang="en-US" sz="1100" b="1" dirty="0">
                <a:solidFill>
                  <a:srgbClr val="DAD8E9"/>
                </a:solidFill>
                <a:latin typeface="Mukta Light" pitchFamily="34" charset="0"/>
                <a:ea typeface="Mukta Light" pitchFamily="34" charset="-122"/>
                <a:cs typeface="Mukta Light" pitchFamily="34" charset="-120"/>
              </a:rPr>
              <a:t>Activities:</a:t>
            </a:r>
            <a:r>
              <a:rPr lang="en-US" sz="1100" dirty="0">
                <a:solidFill>
                  <a:srgbClr val="DAD8E9"/>
                </a:solidFill>
                <a:latin typeface="Mukta Light" pitchFamily="34" charset="0"/>
                <a:ea typeface="Mukta Light" pitchFamily="34" charset="-122"/>
                <a:cs typeface="Mukta Light" pitchFamily="34" charset="-120"/>
              </a:rPr>
              <a:t> The core activities involve accurate grade input, efficient GPA/CGPA calculation, intuitive interpretation of results, and effective academic planning.</a:t>
            </a:r>
            <a:endParaRPr lang="en-US" sz="1100" dirty="0"/>
          </a:p>
          <a:p>
            <a:pPr marL="342900" indent="-342900" algn="l">
              <a:lnSpc>
                <a:spcPts val="1450"/>
              </a:lnSpc>
              <a:buSzPct val="100000"/>
              <a:buChar char="•"/>
            </a:pPr>
            <a:r>
              <a:rPr lang="en-US" sz="1100" b="1" dirty="0">
                <a:solidFill>
                  <a:srgbClr val="DAD8E9"/>
                </a:solidFill>
                <a:latin typeface="Mukta Light" pitchFamily="34" charset="0"/>
                <a:ea typeface="Mukta Light" pitchFamily="34" charset="-122"/>
                <a:cs typeface="Mukta Light" pitchFamily="34" charset="-120"/>
              </a:rPr>
              <a:t>Contexts:</a:t>
            </a:r>
            <a:r>
              <a:rPr lang="en-US" sz="1100" dirty="0">
                <a:solidFill>
                  <a:srgbClr val="DAD8E9"/>
                </a:solidFill>
                <a:latin typeface="Mukta Light" pitchFamily="34" charset="0"/>
                <a:ea typeface="Mukta Light" pitchFamily="34" charset="-122"/>
                <a:cs typeface="Mukta Light" pitchFamily="34" charset="-120"/>
              </a:rPr>
              <a:t> Our solution is designed for versatile use across mobile and desktop environments, accommodating varying internet connectivity and diverse educational settings.</a:t>
            </a:r>
            <a:endParaRPr lang="en-US" sz="1100" dirty="0"/>
          </a:p>
          <a:p>
            <a:pPr marL="342900" indent="-342900" algn="l">
              <a:lnSpc>
                <a:spcPts val="1450"/>
              </a:lnSpc>
              <a:buSzPct val="100000"/>
              <a:buChar char="•"/>
            </a:pPr>
            <a:r>
              <a:rPr lang="en-US" sz="1100" b="1" dirty="0">
                <a:solidFill>
                  <a:srgbClr val="DAD8E9"/>
                </a:solidFill>
                <a:latin typeface="Mukta Light" pitchFamily="34" charset="0"/>
                <a:ea typeface="Mukta Light" pitchFamily="34" charset="-122"/>
                <a:cs typeface="Mukta Light" pitchFamily="34" charset="-120"/>
              </a:rPr>
              <a:t>Technologies:</a:t>
            </a:r>
            <a:r>
              <a:rPr lang="en-US" sz="1100" dirty="0">
                <a:solidFill>
                  <a:srgbClr val="DAD8E9"/>
                </a:solidFill>
                <a:latin typeface="Mukta Light" pitchFamily="34" charset="0"/>
                <a:ea typeface="Mukta Light" pitchFamily="34" charset="-122"/>
                <a:cs typeface="Mukta Light" pitchFamily="34" charset="-120"/>
              </a:rPr>
              <a:t> We leverage a web-based platform with a responsive UI, real-time validation for immediate feedback, and advanced visual analytics for clearer insights.</a:t>
            </a:r>
            <a:endParaRPr lang="en-US" sz="1100" dirty="0"/>
          </a:p>
        </p:txBody>
      </p:sp>
      <p:sp>
        <p:nvSpPr>
          <p:cNvPr id="16" name="Text 9"/>
          <p:cNvSpPr/>
          <p:nvPr/>
        </p:nvSpPr>
        <p:spPr>
          <a:xfrm>
            <a:off x="2378273" y="7407771"/>
            <a:ext cx="9873853" cy="184666"/>
          </a:xfrm>
          <a:prstGeom prst="rect">
            <a:avLst/>
          </a:prstGeom>
          <a:noFill/>
          <a:ln/>
        </p:spPr>
        <p:txBody>
          <a:bodyPr wrap="none" lIns="0" tIns="0" rIns="0" bIns="0" rtlCol="0" anchor="t"/>
          <a:lstStyle/>
          <a:p>
            <a:pPr marL="0" indent="0" algn="l">
              <a:lnSpc>
                <a:spcPts val="1450"/>
              </a:lnSpc>
              <a:buNone/>
            </a:pPr>
            <a:r>
              <a:rPr lang="en-US" sz="1100" dirty="0">
                <a:solidFill>
                  <a:srgbClr val="DAD8E9"/>
                </a:solidFill>
                <a:latin typeface="Mukta Light" pitchFamily="34" charset="0"/>
                <a:ea typeface="Mukta Light" pitchFamily="34" charset="-122"/>
                <a:cs typeface="Mukta Light" pitchFamily="34" charset="-120"/>
              </a:rPr>
              <a:t>This meticulous analysis ensures enhanced usability, unparalleled accuracy, and ultimately, superior user satisfaction.</a:t>
            </a:r>
            <a:endParaRPr lang="en-US" sz="1100" dirty="0"/>
          </a:p>
        </p:txBody>
      </p:sp>
      <p:pic>
        <p:nvPicPr>
          <p:cNvPr id="17" name="Picture 16">
            <a:extLst>
              <a:ext uri="{FF2B5EF4-FFF2-40B4-BE49-F238E27FC236}">
                <a16:creationId xmlns:a16="http://schemas.microsoft.com/office/drawing/2014/main" id="{33969D27-AF86-4F04-A595-78BA50EECD7E}"/>
              </a:ext>
            </a:extLst>
          </p:cNvPr>
          <p:cNvPicPr>
            <a:picLocks noChangeAspect="1"/>
          </p:cNvPicPr>
          <p:nvPr/>
        </p:nvPicPr>
        <p:blipFill>
          <a:blip r:embed="rId12"/>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69288" y="701397"/>
            <a:ext cx="8621197" cy="502801"/>
          </a:xfrm>
          <a:prstGeom prst="rect">
            <a:avLst/>
          </a:prstGeom>
          <a:noFill/>
          <a:ln/>
        </p:spPr>
        <p:txBody>
          <a:bodyPr wrap="none" lIns="0" tIns="0" rIns="0" bIns="0" rtlCol="0" anchor="t"/>
          <a:lstStyle/>
          <a:p>
            <a:pPr marL="0" indent="0" algn="l">
              <a:lnSpc>
                <a:spcPts val="3950"/>
              </a:lnSpc>
              <a:buNone/>
            </a:pPr>
            <a:r>
              <a:rPr lang="en-US" sz="3150" dirty="0">
                <a:solidFill>
                  <a:srgbClr val="C6BFEE"/>
                </a:solidFill>
                <a:latin typeface="Prompt Medium" pitchFamily="34" charset="0"/>
                <a:ea typeface="Prompt Medium" pitchFamily="34" charset="-122"/>
                <a:cs typeface="Prompt Medium" pitchFamily="34" charset="-120"/>
              </a:rPr>
              <a:t>Our Comprehensive Research Methodology</a:t>
            </a:r>
            <a:endParaRPr lang="en-US" sz="3150" dirty="0"/>
          </a:p>
        </p:txBody>
      </p:sp>
      <p:sp>
        <p:nvSpPr>
          <p:cNvPr id="3" name="Shape 1"/>
          <p:cNvSpPr/>
          <p:nvPr/>
        </p:nvSpPr>
        <p:spPr>
          <a:xfrm>
            <a:off x="1150382" y="1773317"/>
            <a:ext cx="180975" cy="814626"/>
          </a:xfrm>
          <a:prstGeom prst="roundRect">
            <a:avLst>
              <a:gd name="adj" fmla="val 42021"/>
            </a:avLst>
          </a:prstGeom>
          <a:solidFill>
            <a:srgbClr val="542C49"/>
          </a:solidFill>
          <a:ln w="7620">
            <a:solidFill>
              <a:srgbClr val="6D4562"/>
            </a:solidFill>
            <a:prstDash val="solid"/>
          </a:ln>
        </p:spPr>
      </p:sp>
      <p:sp>
        <p:nvSpPr>
          <p:cNvPr id="4" name="Shape 2"/>
          <p:cNvSpPr/>
          <p:nvPr/>
        </p:nvSpPr>
        <p:spPr>
          <a:xfrm>
            <a:off x="969288" y="1654493"/>
            <a:ext cx="543163" cy="543163"/>
          </a:xfrm>
          <a:prstGeom prst="roundRect">
            <a:avLst>
              <a:gd name="adj" fmla="val 84174"/>
            </a:avLst>
          </a:prstGeom>
          <a:solidFill>
            <a:srgbClr val="542C49"/>
          </a:solidFill>
          <a:ln w="7620">
            <a:solidFill>
              <a:srgbClr val="6D4562"/>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5019" y="1790343"/>
            <a:ext cx="271582" cy="271582"/>
          </a:xfrm>
          <a:prstGeom prst="rect">
            <a:avLst/>
          </a:prstGeom>
        </p:spPr>
      </p:pic>
      <p:sp>
        <p:nvSpPr>
          <p:cNvPr id="6" name="Text 3"/>
          <p:cNvSpPr/>
          <p:nvPr/>
        </p:nvSpPr>
        <p:spPr>
          <a:xfrm>
            <a:off x="1661160" y="1682710"/>
            <a:ext cx="2011799" cy="251460"/>
          </a:xfrm>
          <a:prstGeom prst="rect">
            <a:avLst/>
          </a:prstGeom>
          <a:noFill/>
          <a:ln/>
        </p:spPr>
        <p:txBody>
          <a:bodyPr wrap="none" lIns="0" tIns="0" rIns="0" bIns="0" rtlCol="0" anchor="t"/>
          <a:lstStyle/>
          <a:p>
            <a:pPr marL="0" indent="0" algn="l">
              <a:lnSpc>
                <a:spcPts val="1950"/>
              </a:lnSpc>
              <a:buNone/>
            </a:pPr>
            <a:r>
              <a:rPr lang="en-US" sz="1550" dirty="0">
                <a:solidFill>
                  <a:srgbClr val="DAD8E9"/>
                </a:solidFill>
                <a:latin typeface="Prompt Medium" pitchFamily="34" charset="0"/>
                <a:ea typeface="Prompt Medium" pitchFamily="34" charset="-122"/>
                <a:cs typeface="Prompt Medium" pitchFamily="34" charset="-120"/>
              </a:rPr>
              <a:t>Literature Review</a:t>
            </a:r>
            <a:endParaRPr lang="en-US" sz="1550" dirty="0"/>
          </a:p>
        </p:txBody>
      </p:sp>
      <p:sp>
        <p:nvSpPr>
          <p:cNvPr id="7" name="Text 4"/>
          <p:cNvSpPr/>
          <p:nvPr/>
        </p:nvSpPr>
        <p:spPr>
          <a:xfrm>
            <a:off x="1661160" y="2023348"/>
            <a:ext cx="11999833" cy="263843"/>
          </a:xfrm>
          <a:prstGeom prst="rect">
            <a:avLst/>
          </a:prstGeom>
          <a:noFill/>
          <a:ln/>
        </p:spPr>
        <p:txBody>
          <a:bodyPr wrap="none" lIns="0" tIns="0" rIns="0" bIns="0" rtlCol="0" anchor="t"/>
          <a:lstStyle/>
          <a:p>
            <a:pPr marL="0" indent="0" algn="l">
              <a:lnSpc>
                <a:spcPts val="2050"/>
              </a:lnSpc>
              <a:buNone/>
            </a:pPr>
            <a:r>
              <a:rPr lang="en-US" sz="1400" dirty="0">
                <a:solidFill>
                  <a:srgbClr val="DAD8E9"/>
                </a:solidFill>
                <a:latin typeface="Mukta Light" pitchFamily="34" charset="0"/>
                <a:ea typeface="Mukta Light" pitchFamily="34" charset="-122"/>
                <a:cs typeface="Mukta Light" pitchFamily="34" charset="-120"/>
              </a:rPr>
              <a:t>Examined existing GPA/CGPA calculation methods and tools to identify best practices and common pitfalls.</a:t>
            </a:r>
            <a:endParaRPr lang="en-US" sz="1400" dirty="0"/>
          </a:p>
        </p:txBody>
      </p:sp>
      <p:sp>
        <p:nvSpPr>
          <p:cNvPr id="8" name="Shape 5"/>
          <p:cNvSpPr/>
          <p:nvPr/>
        </p:nvSpPr>
        <p:spPr>
          <a:xfrm>
            <a:off x="1421963" y="3008352"/>
            <a:ext cx="180975" cy="814626"/>
          </a:xfrm>
          <a:prstGeom prst="roundRect">
            <a:avLst>
              <a:gd name="adj" fmla="val 42021"/>
            </a:avLst>
          </a:prstGeom>
          <a:solidFill>
            <a:srgbClr val="542C49"/>
          </a:solidFill>
          <a:ln w="7620">
            <a:solidFill>
              <a:srgbClr val="6D4562"/>
            </a:solidFill>
            <a:prstDash val="solid"/>
          </a:ln>
        </p:spPr>
      </p:sp>
      <p:sp>
        <p:nvSpPr>
          <p:cNvPr id="9" name="Shape 6"/>
          <p:cNvSpPr/>
          <p:nvPr/>
        </p:nvSpPr>
        <p:spPr>
          <a:xfrm>
            <a:off x="1240869" y="2889528"/>
            <a:ext cx="543163" cy="543163"/>
          </a:xfrm>
          <a:prstGeom prst="roundRect">
            <a:avLst>
              <a:gd name="adj" fmla="val 84174"/>
            </a:avLst>
          </a:prstGeom>
          <a:solidFill>
            <a:srgbClr val="542C49"/>
          </a:solidFill>
          <a:ln w="7620">
            <a:solidFill>
              <a:srgbClr val="6D4562"/>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6601" y="3025378"/>
            <a:ext cx="271582" cy="271582"/>
          </a:xfrm>
          <a:prstGeom prst="rect">
            <a:avLst/>
          </a:prstGeom>
        </p:spPr>
      </p:pic>
      <p:sp>
        <p:nvSpPr>
          <p:cNvPr id="11" name="Text 7"/>
          <p:cNvSpPr/>
          <p:nvPr/>
        </p:nvSpPr>
        <p:spPr>
          <a:xfrm>
            <a:off x="1932742" y="2917746"/>
            <a:ext cx="2569250" cy="251460"/>
          </a:xfrm>
          <a:prstGeom prst="rect">
            <a:avLst/>
          </a:prstGeom>
          <a:noFill/>
          <a:ln/>
        </p:spPr>
        <p:txBody>
          <a:bodyPr wrap="none" lIns="0" tIns="0" rIns="0" bIns="0" rtlCol="0" anchor="t"/>
          <a:lstStyle/>
          <a:p>
            <a:pPr marL="0" indent="0" algn="l">
              <a:lnSpc>
                <a:spcPts val="1950"/>
              </a:lnSpc>
              <a:buNone/>
            </a:pPr>
            <a:r>
              <a:rPr lang="en-US" sz="1550" dirty="0">
                <a:solidFill>
                  <a:srgbClr val="DAD8E9"/>
                </a:solidFill>
                <a:latin typeface="Prompt Medium" pitchFamily="34" charset="0"/>
                <a:ea typeface="Prompt Medium" pitchFamily="34" charset="-122"/>
                <a:cs typeface="Prompt Medium" pitchFamily="34" charset="-120"/>
              </a:rPr>
              <a:t>User Interviews &amp; Surveys</a:t>
            </a:r>
            <a:endParaRPr lang="en-US" sz="1550" dirty="0"/>
          </a:p>
        </p:txBody>
      </p:sp>
      <p:sp>
        <p:nvSpPr>
          <p:cNvPr id="12" name="Text 8"/>
          <p:cNvSpPr/>
          <p:nvPr/>
        </p:nvSpPr>
        <p:spPr>
          <a:xfrm>
            <a:off x="1932742" y="3258383"/>
            <a:ext cx="11728252" cy="263843"/>
          </a:xfrm>
          <a:prstGeom prst="rect">
            <a:avLst/>
          </a:prstGeom>
          <a:noFill/>
          <a:ln/>
        </p:spPr>
        <p:txBody>
          <a:bodyPr wrap="none" lIns="0" tIns="0" rIns="0" bIns="0" rtlCol="0" anchor="t"/>
          <a:lstStyle/>
          <a:p>
            <a:pPr marL="0" indent="0" algn="l">
              <a:lnSpc>
                <a:spcPts val="2050"/>
              </a:lnSpc>
              <a:buNone/>
            </a:pPr>
            <a:r>
              <a:rPr lang="en-US" sz="1400" dirty="0">
                <a:solidFill>
                  <a:srgbClr val="DAD8E9"/>
                </a:solidFill>
                <a:latin typeface="Mukta Light" pitchFamily="34" charset="0"/>
                <a:ea typeface="Mukta Light" pitchFamily="34" charset="-122"/>
                <a:cs typeface="Mukta Light" pitchFamily="34" charset="-120"/>
              </a:rPr>
              <a:t>Conducted in-depth interviews and surveys to gather direct feedback on pain points and user expectations from current systems.</a:t>
            </a:r>
            <a:endParaRPr lang="en-US" sz="1400" dirty="0"/>
          </a:p>
        </p:txBody>
      </p:sp>
      <p:sp>
        <p:nvSpPr>
          <p:cNvPr id="13" name="Shape 9"/>
          <p:cNvSpPr/>
          <p:nvPr/>
        </p:nvSpPr>
        <p:spPr>
          <a:xfrm>
            <a:off x="1693545" y="4243388"/>
            <a:ext cx="180975" cy="814626"/>
          </a:xfrm>
          <a:prstGeom prst="roundRect">
            <a:avLst>
              <a:gd name="adj" fmla="val 42021"/>
            </a:avLst>
          </a:prstGeom>
          <a:solidFill>
            <a:srgbClr val="542C49"/>
          </a:solidFill>
          <a:ln w="7620">
            <a:solidFill>
              <a:srgbClr val="6D4562"/>
            </a:solidFill>
            <a:prstDash val="solid"/>
          </a:ln>
        </p:spPr>
      </p:sp>
      <p:sp>
        <p:nvSpPr>
          <p:cNvPr id="14" name="Shape 10"/>
          <p:cNvSpPr/>
          <p:nvPr/>
        </p:nvSpPr>
        <p:spPr>
          <a:xfrm>
            <a:off x="1512451" y="4124563"/>
            <a:ext cx="543163" cy="543163"/>
          </a:xfrm>
          <a:prstGeom prst="roundRect">
            <a:avLst>
              <a:gd name="adj" fmla="val 84174"/>
            </a:avLst>
          </a:prstGeom>
          <a:solidFill>
            <a:srgbClr val="542C49"/>
          </a:solidFill>
          <a:ln w="7620">
            <a:solidFill>
              <a:srgbClr val="6D4562"/>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48182" y="4260413"/>
            <a:ext cx="271582" cy="271582"/>
          </a:xfrm>
          <a:prstGeom prst="rect">
            <a:avLst/>
          </a:prstGeom>
        </p:spPr>
      </p:pic>
      <p:sp>
        <p:nvSpPr>
          <p:cNvPr id="16" name="Text 11"/>
          <p:cNvSpPr/>
          <p:nvPr/>
        </p:nvSpPr>
        <p:spPr>
          <a:xfrm>
            <a:off x="2204323" y="4152781"/>
            <a:ext cx="3007400" cy="251460"/>
          </a:xfrm>
          <a:prstGeom prst="rect">
            <a:avLst/>
          </a:prstGeom>
          <a:noFill/>
          <a:ln/>
        </p:spPr>
        <p:txBody>
          <a:bodyPr wrap="none" lIns="0" tIns="0" rIns="0" bIns="0" rtlCol="0" anchor="t"/>
          <a:lstStyle/>
          <a:p>
            <a:pPr marL="0" indent="0" algn="l">
              <a:lnSpc>
                <a:spcPts val="1950"/>
              </a:lnSpc>
              <a:buNone/>
            </a:pPr>
            <a:r>
              <a:rPr lang="en-US" sz="1550" dirty="0">
                <a:solidFill>
                  <a:srgbClr val="DAD8E9"/>
                </a:solidFill>
                <a:latin typeface="Prompt Medium" pitchFamily="34" charset="0"/>
                <a:ea typeface="Prompt Medium" pitchFamily="34" charset="-122"/>
                <a:cs typeface="Prompt Medium" pitchFamily="34" charset="-120"/>
              </a:rPr>
              <a:t>Rough Sketches on Paper</a:t>
            </a:r>
            <a:endParaRPr lang="en-US" sz="1550" dirty="0"/>
          </a:p>
        </p:txBody>
      </p:sp>
      <p:sp>
        <p:nvSpPr>
          <p:cNvPr id="17" name="Text 12"/>
          <p:cNvSpPr/>
          <p:nvPr/>
        </p:nvSpPr>
        <p:spPr>
          <a:xfrm>
            <a:off x="2204323" y="4493419"/>
            <a:ext cx="11456670" cy="263843"/>
          </a:xfrm>
          <a:prstGeom prst="rect">
            <a:avLst/>
          </a:prstGeom>
          <a:noFill/>
          <a:ln/>
        </p:spPr>
        <p:txBody>
          <a:bodyPr wrap="none" lIns="0" tIns="0" rIns="0" bIns="0" rtlCol="0" anchor="t"/>
          <a:lstStyle/>
          <a:p>
            <a:pPr marL="0" indent="0" algn="l">
              <a:lnSpc>
                <a:spcPts val="2050"/>
              </a:lnSpc>
              <a:buNone/>
            </a:pPr>
            <a:r>
              <a:rPr lang="en-US" sz="1400" dirty="0">
                <a:solidFill>
                  <a:srgbClr val="DAD8E9"/>
                </a:solidFill>
                <a:latin typeface="Mukta Light" pitchFamily="34" charset="0"/>
                <a:ea typeface="Mukta Light" pitchFamily="34" charset="-122"/>
                <a:cs typeface="Mukta Light" pitchFamily="34" charset="-120"/>
              </a:rPr>
              <a:t>Designed rough sketches</a:t>
            </a:r>
            <a:endParaRPr lang="en-US" sz="1400" dirty="0"/>
          </a:p>
        </p:txBody>
      </p:sp>
      <p:sp>
        <p:nvSpPr>
          <p:cNvPr id="18" name="Shape 13"/>
          <p:cNvSpPr/>
          <p:nvPr/>
        </p:nvSpPr>
        <p:spPr>
          <a:xfrm>
            <a:off x="1965127" y="5478423"/>
            <a:ext cx="180975" cy="814626"/>
          </a:xfrm>
          <a:prstGeom prst="roundRect">
            <a:avLst>
              <a:gd name="adj" fmla="val 42021"/>
            </a:avLst>
          </a:prstGeom>
          <a:solidFill>
            <a:srgbClr val="542C49"/>
          </a:solidFill>
          <a:ln w="7620">
            <a:solidFill>
              <a:srgbClr val="6D4562"/>
            </a:solidFill>
            <a:prstDash val="solid"/>
          </a:ln>
        </p:spPr>
      </p:sp>
      <p:sp>
        <p:nvSpPr>
          <p:cNvPr id="19" name="Shape 14"/>
          <p:cNvSpPr/>
          <p:nvPr/>
        </p:nvSpPr>
        <p:spPr>
          <a:xfrm>
            <a:off x="1784033" y="5359598"/>
            <a:ext cx="543163" cy="543163"/>
          </a:xfrm>
          <a:prstGeom prst="roundRect">
            <a:avLst>
              <a:gd name="adj" fmla="val 84174"/>
            </a:avLst>
          </a:prstGeom>
          <a:solidFill>
            <a:srgbClr val="542C49"/>
          </a:solidFill>
          <a:ln w="7620">
            <a:solidFill>
              <a:srgbClr val="6D4562"/>
            </a:solidFill>
            <a:prstDash val="solid"/>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19764" y="5495449"/>
            <a:ext cx="271582" cy="271582"/>
          </a:xfrm>
          <a:prstGeom prst="rect">
            <a:avLst/>
          </a:prstGeom>
        </p:spPr>
      </p:pic>
      <p:sp>
        <p:nvSpPr>
          <p:cNvPr id="21" name="Text 15"/>
          <p:cNvSpPr/>
          <p:nvPr/>
        </p:nvSpPr>
        <p:spPr>
          <a:xfrm>
            <a:off x="2475905" y="5387816"/>
            <a:ext cx="2493288" cy="251460"/>
          </a:xfrm>
          <a:prstGeom prst="rect">
            <a:avLst/>
          </a:prstGeom>
          <a:noFill/>
          <a:ln/>
        </p:spPr>
        <p:txBody>
          <a:bodyPr wrap="none" lIns="0" tIns="0" rIns="0" bIns="0" rtlCol="0" anchor="t"/>
          <a:lstStyle/>
          <a:p>
            <a:pPr marL="0" indent="0" algn="l">
              <a:lnSpc>
                <a:spcPts val="1950"/>
              </a:lnSpc>
              <a:buNone/>
            </a:pPr>
            <a:r>
              <a:rPr lang="en-US" sz="1550" dirty="0">
                <a:solidFill>
                  <a:srgbClr val="DAD8E9"/>
                </a:solidFill>
                <a:latin typeface="Prompt Medium" pitchFamily="34" charset="0"/>
                <a:ea typeface="Prompt Medium" pitchFamily="34" charset="-122"/>
                <a:cs typeface="Prompt Medium" pitchFamily="34" charset="-120"/>
              </a:rPr>
              <a:t>Iterative Design &amp; Prototyping</a:t>
            </a:r>
            <a:endParaRPr lang="en-US" sz="1550" dirty="0"/>
          </a:p>
        </p:txBody>
      </p:sp>
      <p:sp>
        <p:nvSpPr>
          <p:cNvPr id="22" name="Text 16"/>
          <p:cNvSpPr/>
          <p:nvPr/>
        </p:nvSpPr>
        <p:spPr>
          <a:xfrm>
            <a:off x="2475905" y="5728454"/>
            <a:ext cx="11185088" cy="263843"/>
          </a:xfrm>
          <a:prstGeom prst="rect">
            <a:avLst/>
          </a:prstGeom>
          <a:noFill/>
          <a:ln/>
        </p:spPr>
        <p:txBody>
          <a:bodyPr wrap="none" lIns="0" tIns="0" rIns="0" bIns="0" rtlCol="0" anchor="t"/>
          <a:lstStyle/>
          <a:p>
            <a:pPr marL="0" indent="0" algn="l">
              <a:lnSpc>
                <a:spcPts val="2050"/>
              </a:lnSpc>
              <a:buNone/>
            </a:pPr>
            <a:r>
              <a:rPr lang="en-US" sz="1400" dirty="0">
                <a:solidFill>
                  <a:srgbClr val="DAD8E9"/>
                </a:solidFill>
                <a:latin typeface="Mukta Light" pitchFamily="34" charset="0"/>
                <a:ea typeface="Mukta Light" pitchFamily="34" charset="-122"/>
                <a:cs typeface="Mukta Light" pitchFamily="34" charset="-120"/>
              </a:rPr>
              <a:t>Developed a digital prototype, refining the user interface and experience based on continuous feedback and usability testing.</a:t>
            </a:r>
            <a:endParaRPr lang="en-US" sz="1400" dirty="0"/>
          </a:p>
        </p:txBody>
      </p:sp>
      <p:sp>
        <p:nvSpPr>
          <p:cNvPr id="23" name="Shape 17"/>
          <p:cNvSpPr/>
          <p:nvPr/>
        </p:nvSpPr>
        <p:spPr>
          <a:xfrm>
            <a:off x="2400131" y="6713458"/>
            <a:ext cx="180975" cy="814626"/>
          </a:xfrm>
          <a:prstGeom prst="roundRect">
            <a:avLst>
              <a:gd name="adj" fmla="val 42021"/>
            </a:avLst>
          </a:prstGeom>
          <a:solidFill>
            <a:srgbClr val="542C49"/>
          </a:solidFill>
          <a:ln w="7620">
            <a:solidFill>
              <a:srgbClr val="6D4562"/>
            </a:solidFill>
            <a:prstDash val="solid"/>
          </a:ln>
        </p:spPr>
      </p:sp>
      <p:sp>
        <p:nvSpPr>
          <p:cNvPr id="24" name="Shape 18"/>
          <p:cNvSpPr/>
          <p:nvPr/>
        </p:nvSpPr>
        <p:spPr>
          <a:xfrm>
            <a:off x="2208644" y="6594634"/>
            <a:ext cx="543163" cy="543163"/>
          </a:xfrm>
          <a:prstGeom prst="roundRect">
            <a:avLst>
              <a:gd name="adj" fmla="val 84174"/>
            </a:avLst>
          </a:prstGeom>
          <a:solidFill>
            <a:srgbClr val="542C49"/>
          </a:solidFill>
          <a:ln w="7620">
            <a:solidFill>
              <a:srgbClr val="6D4562"/>
            </a:solidFill>
            <a:prstDash val="solid"/>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44375" y="6730484"/>
            <a:ext cx="271582" cy="271582"/>
          </a:xfrm>
          <a:prstGeom prst="rect">
            <a:avLst/>
          </a:prstGeom>
        </p:spPr>
      </p:pic>
      <p:sp>
        <p:nvSpPr>
          <p:cNvPr id="26" name="Text 19"/>
          <p:cNvSpPr/>
          <p:nvPr/>
        </p:nvSpPr>
        <p:spPr>
          <a:xfrm>
            <a:off x="2910907" y="6622852"/>
            <a:ext cx="2961203" cy="251460"/>
          </a:xfrm>
          <a:prstGeom prst="rect">
            <a:avLst/>
          </a:prstGeom>
          <a:noFill/>
          <a:ln/>
        </p:spPr>
        <p:txBody>
          <a:bodyPr wrap="none" lIns="0" tIns="0" rIns="0" bIns="0" rtlCol="0" anchor="t"/>
          <a:lstStyle/>
          <a:p>
            <a:pPr marL="0" indent="0" algn="l">
              <a:lnSpc>
                <a:spcPts val="1950"/>
              </a:lnSpc>
              <a:buNone/>
            </a:pPr>
            <a:r>
              <a:rPr lang="en-US" sz="1550" dirty="0">
                <a:solidFill>
                  <a:srgbClr val="DAD8E9"/>
                </a:solidFill>
                <a:latin typeface="Prompt Medium" pitchFamily="34" charset="0"/>
                <a:ea typeface="Prompt Medium" pitchFamily="34" charset="-122"/>
                <a:cs typeface="Prompt Medium" pitchFamily="34" charset="-120"/>
              </a:rPr>
              <a:t>Technical Implementation</a:t>
            </a:r>
            <a:endParaRPr lang="en-US" sz="1550" dirty="0"/>
          </a:p>
        </p:txBody>
      </p:sp>
      <p:sp>
        <p:nvSpPr>
          <p:cNvPr id="27" name="Text 20"/>
          <p:cNvSpPr/>
          <p:nvPr/>
        </p:nvSpPr>
        <p:spPr>
          <a:xfrm>
            <a:off x="2910907" y="6963489"/>
            <a:ext cx="11456670" cy="263843"/>
          </a:xfrm>
          <a:prstGeom prst="rect">
            <a:avLst/>
          </a:prstGeom>
          <a:noFill/>
          <a:ln/>
        </p:spPr>
        <p:txBody>
          <a:bodyPr wrap="none" lIns="0" tIns="0" rIns="0" bIns="0" rtlCol="0" anchor="t"/>
          <a:lstStyle/>
          <a:p>
            <a:pPr marL="0" indent="0" algn="l">
              <a:lnSpc>
                <a:spcPts val="2050"/>
              </a:lnSpc>
              <a:buNone/>
            </a:pPr>
            <a:r>
              <a:rPr lang="en-US" sz="1400" dirty="0">
                <a:solidFill>
                  <a:srgbClr val="DAD8E9"/>
                </a:solidFill>
                <a:latin typeface="Mukta Light" pitchFamily="34" charset="0"/>
                <a:ea typeface="Mukta Light" pitchFamily="34" charset="-122"/>
                <a:cs typeface="Mukta Light" pitchFamily="34" charset="-120"/>
              </a:rPr>
              <a:t>Implemented the calculator using modern web technologies (JavaScript, HTML, CSS) to ensure responsiveness and robust functionality.</a:t>
            </a:r>
            <a:endParaRPr lang="en-US" sz="1400" dirty="0"/>
          </a:p>
        </p:txBody>
      </p:sp>
      <p:pic>
        <p:nvPicPr>
          <p:cNvPr id="28" name="Picture 27">
            <a:extLst>
              <a:ext uri="{FF2B5EF4-FFF2-40B4-BE49-F238E27FC236}">
                <a16:creationId xmlns:a16="http://schemas.microsoft.com/office/drawing/2014/main" id="{5B63E5C2-6A1A-428A-963D-319C227F46DA}"/>
              </a:ext>
            </a:extLst>
          </p:cNvPr>
          <p:cNvPicPr>
            <a:picLocks noChangeAspect="1"/>
          </p:cNvPicPr>
          <p:nvPr/>
        </p:nvPicPr>
        <p:blipFill>
          <a:blip r:embed="rId13"/>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1063" y="1110615"/>
            <a:ext cx="8235791"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Key Findings from User Interviews</a:t>
            </a:r>
            <a:endParaRPr lang="en-US" sz="3850" dirty="0"/>
          </a:p>
        </p:txBody>
      </p:sp>
      <p:sp>
        <p:nvSpPr>
          <p:cNvPr id="3" name="Text 1"/>
          <p:cNvSpPr/>
          <p:nvPr/>
        </p:nvSpPr>
        <p:spPr>
          <a:xfrm>
            <a:off x="881063" y="2163128"/>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Interviews with students provided invaluable insights, highlighting critical areas for improvement in academic tools. These findings directly shaped the design and features of our GPA/CGPA calculator.</a:t>
            </a:r>
            <a:endParaRPr lang="en-US" sz="1700" dirty="0"/>
          </a:p>
        </p:txBody>
      </p:sp>
      <p:sp>
        <p:nvSpPr>
          <p:cNvPr id="4" name="Text 2"/>
          <p:cNvSpPr/>
          <p:nvPr/>
        </p:nvSpPr>
        <p:spPr>
          <a:xfrm>
            <a:off x="881063" y="3115747"/>
            <a:ext cx="12868275" cy="2819778"/>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Confusion over Grading Scales:</a:t>
            </a:r>
            <a:r>
              <a:rPr lang="en-US" sz="1700" dirty="0">
                <a:solidFill>
                  <a:srgbClr val="DAD8E9"/>
                </a:solidFill>
                <a:latin typeface="Mukta Light" pitchFamily="34" charset="0"/>
                <a:ea typeface="Mukta Light" pitchFamily="34" charset="-122"/>
                <a:cs typeface="Mukta Light" pitchFamily="34" charset="-120"/>
              </a:rPr>
              <a:t> Many students expressed difficulty understanding and correctly inputting grades according to various institutional grading scales and credit systems.</a:t>
            </a:r>
            <a:endParaRPr lang="en-US" sz="1700" dirty="0"/>
          </a:p>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Desire for Instant Feedback:</a:t>
            </a:r>
            <a:r>
              <a:rPr lang="en-US" sz="1700" dirty="0">
                <a:solidFill>
                  <a:srgbClr val="DAD8E9"/>
                </a:solidFill>
                <a:latin typeface="Mukta Light" pitchFamily="34" charset="0"/>
                <a:ea typeface="Mukta Light" pitchFamily="34" charset="-122"/>
                <a:cs typeface="Mukta Light" pitchFamily="34" charset="-120"/>
              </a:rPr>
              <a:t> A strong preference emerged for immediate error feedback and clear, concise instructions within the calculator interface.</a:t>
            </a:r>
            <a:endParaRPr lang="en-US" sz="1700" dirty="0"/>
          </a:p>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Preference for Task Based Approach:</a:t>
            </a:r>
            <a:r>
              <a:rPr lang="en-US" sz="1700" dirty="0">
                <a:solidFill>
                  <a:srgbClr val="DAD8E9"/>
                </a:solidFill>
                <a:latin typeface="Mukta Light" pitchFamily="34" charset="0"/>
                <a:ea typeface="Mukta Light" pitchFamily="34" charset="-122"/>
                <a:cs typeface="Mukta Light" pitchFamily="34" charset="-120"/>
              </a:rPr>
              <a:t> Many of the students demanded that the web should ask them for the number of subject and semesters when calculation GPA &amp; CGPA respectively.</a:t>
            </a:r>
            <a:endParaRPr lang="en-US" sz="1700" dirty="0"/>
          </a:p>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Criticality of Mobile Access:</a:t>
            </a:r>
            <a:r>
              <a:rPr lang="en-US" sz="1700" dirty="0">
                <a:solidFill>
                  <a:srgbClr val="DAD8E9"/>
                </a:solidFill>
                <a:latin typeface="Mukta Light" pitchFamily="34" charset="0"/>
                <a:ea typeface="Mukta Light" pitchFamily="34" charset="-122"/>
                <a:cs typeface="Mukta Light" pitchFamily="34" charset="-120"/>
              </a:rPr>
              <a:t> The ability to access the calculator on mobile devices for on-the-go tracking and quick checks was deemed essential.</a:t>
            </a:r>
            <a:endParaRPr lang="en-US" sz="1700" dirty="0"/>
          </a:p>
        </p:txBody>
      </p:sp>
      <p:sp>
        <p:nvSpPr>
          <p:cNvPr id="5" name="Text 3"/>
          <p:cNvSpPr/>
          <p:nvPr/>
        </p:nvSpPr>
        <p:spPr>
          <a:xfrm>
            <a:off x="881063" y="6183294"/>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Our design directly addresses these identified needs, aiming to boost user confidence, enhance engagement, and provide a truly empowering academic tool.</a:t>
            </a:r>
            <a:endParaRPr lang="en-US" sz="1700" dirty="0"/>
          </a:p>
        </p:txBody>
      </p:sp>
      <p:pic>
        <p:nvPicPr>
          <p:cNvPr id="6" name="Picture 5">
            <a:extLst>
              <a:ext uri="{FF2B5EF4-FFF2-40B4-BE49-F238E27FC236}">
                <a16:creationId xmlns:a16="http://schemas.microsoft.com/office/drawing/2014/main" id="{7AFFFB2D-C7D8-49AC-8319-CB5FD511DFF3}"/>
              </a:ext>
            </a:extLst>
          </p:cNvPr>
          <p:cNvPicPr>
            <a:picLocks noChangeAspect="1"/>
          </p:cNvPicPr>
          <p:nvPr/>
        </p:nvPicPr>
        <p:blipFill>
          <a:blip r:embed="rId3"/>
          <a:stretch>
            <a:fillRect/>
          </a:stretch>
        </p:blipFill>
        <p:spPr>
          <a:xfrm>
            <a:off x="12849726" y="7640061"/>
            <a:ext cx="1780674" cy="5624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801767"/>
            <a:ext cx="8503563"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Personas: Understanding Our Users</a:t>
            </a:r>
            <a:endParaRPr lang="en-US" sz="3850" dirty="0"/>
          </a:p>
        </p:txBody>
      </p:sp>
      <p:sp>
        <p:nvSpPr>
          <p:cNvPr id="3" name="Text 1"/>
          <p:cNvSpPr/>
          <p:nvPr/>
        </p:nvSpPr>
        <p:spPr>
          <a:xfrm>
            <a:off x="881063" y="1854279"/>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To create a truly user-centric GPA and CGPA calculator, we first delved into understanding our primary users. We identified three distinct personas, each with unique needs and challenges.</a:t>
            </a:r>
            <a:endParaRPr lang="en-US" sz="1700" dirty="0"/>
          </a:p>
        </p:txBody>
      </p:sp>
      <p:pic>
        <p:nvPicPr>
          <p:cNvPr id="4" name="Image 0" descr="preencoded.png"/>
          <p:cNvPicPr>
            <a:picLocks noChangeAspect="1"/>
          </p:cNvPicPr>
          <p:nvPr/>
        </p:nvPicPr>
        <p:blipFill>
          <a:blip r:embed="rId3"/>
          <a:stretch>
            <a:fillRect/>
          </a:stretch>
        </p:blipFill>
        <p:spPr>
          <a:xfrm>
            <a:off x="8023543" y="2910522"/>
            <a:ext cx="1484233" cy="1484233"/>
          </a:xfrm>
          <a:prstGeom prst="rect">
            <a:avLst/>
          </a:prstGeom>
        </p:spPr>
      </p:pic>
      <p:sp>
        <p:nvSpPr>
          <p:cNvPr id="5" name="Text 2"/>
          <p:cNvSpPr/>
          <p:nvPr/>
        </p:nvSpPr>
        <p:spPr>
          <a:xfrm>
            <a:off x="9728040" y="2910522"/>
            <a:ext cx="3370739" cy="611981"/>
          </a:xfrm>
          <a:prstGeom prst="rect">
            <a:avLst/>
          </a:prstGeom>
          <a:noFill/>
          <a:ln/>
        </p:spPr>
        <p:txBody>
          <a:bodyPr wrap="squar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Noor Fatima: Student Looking to study abroad</a:t>
            </a:r>
            <a:endParaRPr lang="en-US" sz="1900" dirty="0"/>
          </a:p>
        </p:txBody>
      </p:sp>
      <p:sp>
        <p:nvSpPr>
          <p:cNvPr id="6" name="Text 3"/>
          <p:cNvSpPr/>
          <p:nvPr/>
        </p:nvSpPr>
        <p:spPr>
          <a:xfrm>
            <a:off x="9728041" y="3654663"/>
            <a:ext cx="3042386" cy="3171825"/>
          </a:xfrm>
          <a:prstGeom prst="rect">
            <a:avLst/>
          </a:prstGeom>
          <a:noFill/>
          <a:ln/>
        </p:spPr>
        <p:txBody>
          <a:bodyPr wrap="square" lIns="0" tIns="0" rIns="0" bIns="0" rtlCol="0" anchor="t"/>
          <a:lstStyle/>
          <a:p>
            <a:pPr marL="0" indent="0" algn="just">
              <a:lnSpc>
                <a:spcPts val="2750"/>
              </a:lnSpc>
              <a:buNone/>
            </a:pPr>
            <a:r>
              <a:rPr lang="en-US" sz="1600" dirty="0">
                <a:solidFill>
                  <a:schemeClr val="bg1"/>
                </a:solidFill>
              </a:rPr>
              <a:t>Noor Fatima is a fifth-semester cybersecurity undergraduate planning to study abroad. She needs a reliable tool to calculate her CGPA and instantly interpret it against international grading standards so she can confidently assess her eligibility without confusion or anxiety.</a:t>
            </a:r>
            <a:endParaRPr lang="en-US" sz="1700" dirty="0">
              <a:solidFill>
                <a:schemeClr val="bg1"/>
              </a:solidFill>
            </a:endParaRPr>
          </a:p>
        </p:txBody>
      </p:sp>
      <p:pic>
        <p:nvPicPr>
          <p:cNvPr id="7" name="Image 1" descr="preencoded.png"/>
          <p:cNvPicPr>
            <a:picLocks noChangeAspect="1"/>
          </p:cNvPicPr>
          <p:nvPr/>
        </p:nvPicPr>
        <p:blipFill>
          <a:blip r:embed="rId4"/>
          <a:stretch>
            <a:fillRect/>
          </a:stretch>
        </p:blipFill>
        <p:spPr>
          <a:xfrm>
            <a:off x="2011005" y="2908498"/>
            <a:ext cx="1484233" cy="1484233"/>
          </a:xfrm>
          <a:prstGeom prst="rect">
            <a:avLst/>
          </a:prstGeom>
        </p:spPr>
      </p:pic>
      <p:sp>
        <p:nvSpPr>
          <p:cNvPr id="8" name="Text 4"/>
          <p:cNvSpPr/>
          <p:nvPr/>
        </p:nvSpPr>
        <p:spPr>
          <a:xfrm>
            <a:off x="3715504" y="2908498"/>
            <a:ext cx="2401372" cy="611981"/>
          </a:xfrm>
          <a:prstGeom prst="rect">
            <a:avLst/>
          </a:prstGeom>
          <a:noFill/>
          <a:ln/>
        </p:spPr>
        <p:txBody>
          <a:bodyPr wrap="squar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Ali Raza: Local GPA Focused Student</a:t>
            </a:r>
            <a:endParaRPr lang="en-US" sz="1900" dirty="0"/>
          </a:p>
        </p:txBody>
      </p:sp>
      <p:sp>
        <p:nvSpPr>
          <p:cNvPr id="9" name="Text 5"/>
          <p:cNvSpPr/>
          <p:nvPr/>
        </p:nvSpPr>
        <p:spPr>
          <a:xfrm>
            <a:off x="3715503" y="3652639"/>
            <a:ext cx="3267187" cy="3876675"/>
          </a:xfrm>
          <a:prstGeom prst="rect">
            <a:avLst/>
          </a:prstGeom>
          <a:noFill/>
          <a:ln/>
        </p:spPr>
        <p:txBody>
          <a:bodyPr wrap="square" lIns="0" tIns="0" rIns="0" bIns="0" rtlCol="0" anchor="t"/>
          <a:lstStyle/>
          <a:p>
            <a:pPr marL="0" indent="0" algn="just">
              <a:lnSpc>
                <a:spcPts val="2750"/>
              </a:lnSpc>
              <a:buNone/>
            </a:pPr>
            <a:r>
              <a:rPr lang="en-US" sz="1800" dirty="0">
                <a:solidFill>
                  <a:schemeClr val="bg1"/>
                </a:solidFill>
              </a:rPr>
              <a:t>Ali Raza is a second-year cybersecurity undergraduate who frequently checks his GPA each semester. He prefers reliable online tools over manual calculations and needs clear, accurate GPA and CGPA results with simple explanations to avoid confusion and reduce academic anxiety.</a:t>
            </a:r>
            <a:endParaRPr lang="en-US" sz="2000" dirty="0">
              <a:solidFill>
                <a:schemeClr val="bg1"/>
              </a:solidFill>
            </a:endParaRPr>
          </a:p>
        </p:txBody>
      </p:sp>
      <p:pic>
        <p:nvPicPr>
          <p:cNvPr id="13" name="Picture 12">
            <a:extLst>
              <a:ext uri="{FF2B5EF4-FFF2-40B4-BE49-F238E27FC236}">
                <a16:creationId xmlns:a16="http://schemas.microsoft.com/office/drawing/2014/main" id="{35AF7CC7-D5A1-4EF6-A8B1-CA27D8596666}"/>
              </a:ext>
            </a:extLst>
          </p:cNvPr>
          <p:cNvPicPr>
            <a:picLocks noChangeAspect="1"/>
          </p:cNvPicPr>
          <p:nvPr/>
        </p:nvPicPr>
        <p:blipFill>
          <a:blip r:embed="rId5"/>
          <a:stretch>
            <a:fillRect/>
          </a:stretch>
        </p:blipFill>
        <p:spPr>
          <a:xfrm>
            <a:off x="12849726" y="7640061"/>
            <a:ext cx="1780674" cy="562449"/>
          </a:xfrm>
          <a:prstGeom prst="rect">
            <a:avLst/>
          </a:prstGeom>
        </p:spPr>
      </p:pic>
    </p:spTree>
    <p:extLst>
      <p:ext uri="{BB962C8B-B14F-4D97-AF65-F5344CB8AC3E}">
        <p14:creationId xmlns:p14="http://schemas.microsoft.com/office/powerpoint/2010/main" val="2798429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232654"/>
            <a:ext cx="7251025"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Scenarios: Real-Life Use Cases</a:t>
            </a:r>
            <a:endParaRPr lang="en-US" sz="3850" dirty="0"/>
          </a:p>
        </p:txBody>
      </p:sp>
      <p:sp>
        <p:nvSpPr>
          <p:cNvPr id="3" name="Text 1"/>
          <p:cNvSpPr/>
          <p:nvPr/>
        </p:nvSpPr>
        <p:spPr>
          <a:xfrm>
            <a:off x="881063" y="2285167"/>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By developing detailed scenarios for each persona, we gained insight into how our application would integrate into their daily academic lives. These scenarios highlighted critical moments and functionalities required for a successful user experience.</a:t>
            </a:r>
            <a:endParaRPr lang="en-US" sz="1700" dirty="0"/>
          </a:p>
        </p:txBody>
      </p:sp>
      <p:sp>
        <p:nvSpPr>
          <p:cNvPr id="4" name="Shape 2"/>
          <p:cNvSpPr/>
          <p:nvPr/>
        </p:nvSpPr>
        <p:spPr>
          <a:xfrm>
            <a:off x="1951324" y="3258568"/>
            <a:ext cx="4142542" cy="3759041"/>
          </a:xfrm>
          <a:prstGeom prst="roundRect">
            <a:avLst>
              <a:gd name="adj" fmla="val 3892"/>
            </a:avLst>
          </a:prstGeom>
          <a:solidFill>
            <a:srgbClr val="0B0C23">
              <a:alpha val="95000"/>
            </a:srgbClr>
          </a:solidFill>
          <a:ln w="30480">
            <a:solidFill>
              <a:srgbClr val="6D4562"/>
            </a:solidFill>
            <a:prstDash val="solid"/>
          </a:ln>
        </p:spPr>
      </p:sp>
      <p:sp>
        <p:nvSpPr>
          <p:cNvPr id="5" name="Shape 3"/>
          <p:cNvSpPr/>
          <p:nvPr/>
        </p:nvSpPr>
        <p:spPr>
          <a:xfrm>
            <a:off x="1920844" y="3258568"/>
            <a:ext cx="121920" cy="3759041"/>
          </a:xfrm>
          <a:prstGeom prst="roundRect">
            <a:avLst>
              <a:gd name="adj" fmla="val 75889"/>
            </a:avLst>
          </a:prstGeom>
          <a:solidFill>
            <a:srgbClr val="A95B95"/>
          </a:solidFill>
          <a:ln/>
        </p:spPr>
      </p:sp>
      <p:sp>
        <p:nvSpPr>
          <p:cNvPr id="6" name="Text 4"/>
          <p:cNvSpPr/>
          <p:nvPr/>
        </p:nvSpPr>
        <p:spPr>
          <a:xfrm>
            <a:off x="2293509" y="3509313"/>
            <a:ext cx="2733556"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cs typeface="Prompt Medium" pitchFamily="34" charset="-120"/>
              </a:rPr>
              <a:t>Scenario for Ali Raza</a:t>
            </a:r>
            <a:endParaRPr lang="en-US" sz="1900" dirty="0"/>
          </a:p>
        </p:txBody>
      </p:sp>
      <p:sp>
        <p:nvSpPr>
          <p:cNvPr id="7" name="Text 5"/>
          <p:cNvSpPr/>
          <p:nvPr/>
        </p:nvSpPr>
        <p:spPr>
          <a:xfrm>
            <a:off x="2293509" y="3947463"/>
            <a:ext cx="3549610" cy="2466975"/>
          </a:xfrm>
          <a:prstGeom prst="rect">
            <a:avLst/>
          </a:prstGeom>
          <a:noFill/>
          <a:ln/>
        </p:spPr>
        <p:txBody>
          <a:bodyPr wrap="square" lIns="0" tIns="0" rIns="0" bIns="0" rtlCol="0" anchor="t"/>
          <a:lstStyle/>
          <a:p>
            <a:pPr marL="0" indent="0" algn="just">
              <a:lnSpc>
                <a:spcPts val="2750"/>
              </a:lnSpc>
              <a:buNone/>
            </a:pPr>
            <a:r>
              <a:rPr lang="en-US" sz="1600" dirty="0">
                <a:solidFill>
                  <a:schemeClr val="bg1"/>
                </a:solidFill>
              </a:rPr>
              <a:t>After getting his results, Ali uses online GPA calculators but receives different results with no explanation of credit hours. He wants a single reliable tool that gives accurate GPA results with clear, step-by-step calculation transparency.</a:t>
            </a:r>
            <a:endParaRPr lang="en-US" sz="1700" dirty="0">
              <a:solidFill>
                <a:schemeClr val="bg1"/>
              </a:solidFill>
            </a:endParaRPr>
          </a:p>
        </p:txBody>
      </p:sp>
      <p:sp>
        <p:nvSpPr>
          <p:cNvPr id="8" name="Shape 6"/>
          <p:cNvSpPr/>
          <p:nvPr/>
        </p:nvSpPr>
        <p:spPr>
          <a:xfrm>
            <a:off x="8382615" y="3258568"/>
            <a:ext cx="4142542" cy="3759041"/>
          </a:xfrm>
          <a:prstGeom prst="roundRect">
            <a:avLst>
              <a:gd name="adj" fmla="val 3892"/>
            </a:avLst>
          </a:prstGeom>
          <a:solidFill>
            <a:srgbClr val="0B0C23">
              <a:alpha val="95000"/>
            </a:srgbClr>
          </a:solidFill>
          <a:ln w="30480">
            <a:solidFill>
              <a:srgbClr val="6D4562"/>
            </a:solidFill>
            <a:prstDash val="solid"/>
          </a:ln>
        </p:spPr>
      </p:sp>
      <p:sp>
        <p:nvSpPr>
          <p:cNvPr id="9" name="Shape 7"/>
          <p:cNvSpPr/>
          <p:nvPr/>
        </p:nvSpPr>
        <p:spPr>
          <a:xfrm>
            <a:off x="8352135" y="3258568"/>
            <a:ext cx="121920" cy="3759041"/>
          </a:xfrm>
          <a:prstGeom prst="roundRect">
            <a:avLst>
              <a:gd name="adj" fmla="val 75889"/>
            </a:avLst>
          </a:prstGeom>
          <a:solidFill>
            <a:srgbClr val="A95B95"/>
          </a:solidFill>
          <a:ln/>
        </p:spPr>
      </p:sp>
      <p:sp>
        <p:nvSpPr>
          <p:cNvPr id="10" name="Text 8"/>
          <p:cNvSpPr/>
          <p:nvPr/>
        </p:nvSpPr>
        <p:spPr>
          <a:xfrm>
            <a:off x="8724800" y="3509313"/>
            <a:ext cx="2997756"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Scenario for Noor Fatima</a:t>
            </a:r>
            <a:endParaRPr lang="en-US" sz="1900" dirty="0"/>
          </a:p>
        </p:txBody>
      </p:sp>
      <p:sp>
        <p:nvSpPr>
          <p:cNvPr id="11" name="Text 9"/>
          <p:cNvSpPr/>
          <p:nvPr/>
        </p:nvSpPr>
        <p:spPr>
          <a:xfrm>
            <a:off x="8724800" y="3947463"/>
            <a:ext cx="3549610" cy="2819400"/>
          </a:xfrm>
          <a:prstGeom prst="rect">
            <a:avLst/>
          </a:prstGeom>
          <a:noFill/>
          <a:ln/>
        </p:spPr>
        <p:txBody>
          <a:bodyPr wrap="square" lIns="0" tIns="0" rIns="0" bIns="0" rtlCol="0" anchor="t"/>
          <a:lstStyle/>
          <a:p>
            <a:pPr marL="0" indent="0" algn="just">
              <a:lnSpc>
                <a:spcPts val="2750"/>
              </a:lnSpc>
              <a:buNone/>
            </a:pPr>
            <a:r>
              <a:rPr lang="en-US" sz="1600" dirty="0">
                <a:solidFill>
                  <a:schemeClr val="bg1"/>
                </a:solidFill>
              </a:rPr>
              <a:t>While preparing to study abroad, Fatima calculates her CGPA but struggles to understand how it is evaluated internationally. She wants a simple tool where she enters her CGPA, selects a country, and receives clear explanations to reduce confusion and decision fatigue.</a:t>
            </a:r>
            <a:endParaRPr lang="en-US" sz="1700" dirty="0">
              <a:solidFill>
                <a:schemeClr val="bg1"/>
              </a:solidFill>
            </a:endParaRPr>
          </a:p>
        </p:txBody>
      </p:sp>
      <p:pic>
        <p:nvPicPr>
          <p:cNvPr id="16" name="Picture 15">
            <a:extLst>
              <a:ext uri="{FF2B5EF4-FFF2-40B4-BE49-F238E27FC236}">
                <a16:creationId xmlns:a16="http://schemas.microsoft.com/office/drawing/2014/main" id="{10812A61-A82E-4E59-8FAE-450C00BFC88D}"/>
              </a:ext>
            </a:extLst>
          </p:cNvPr>
          <p:cNvPicPr>
            <a:picLocks noChangeAspect="1"/>
          </p:cNvPicPr>
          <p:nvPr/>
        </p:nvPicPr>
        <p:blipFill>
          <a:blip r:embed="rId3"/>
          <a:stretch>
            <a:fillRect/>
          </a:stretch>
        </p:blipFill>
        <p:spPr>
          <a:xfrm>
            <a:off x="12849726" y="7640061"/>
            <a:ext cx="1780674" cy="562449"/>
          </a:xfrm>
          <a:prstGeom prst="rect">
            <a:avLst/>
          </a:prstGeom>
        </p:spPr>
      </p:pic>
    </p:spTree>
    <p:extLst>
      <p:ext uri="{BB962C8B-B14F-4D97-AF65-F5344CB8AC3E}">
        <p14:creationId xmlns:p14="http://schemas.microsoft.com/office/powerpoint/2010/main" val="24054182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81063" y="1374577"/>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Sketching Our Idea: From Concept to Interface</a:t>
            </a:r>
            <a:endParaRPr lang="en-US" sz="3850" dirty="0"/>
          </a:p>
        </p:txBody>
      </p:sp>
      <p:sp>
        <p:nvSpPr>
          <p:cNvPr id="4" name="Text 1"/>
          <p:cNvSpPr/>
          <p:nvPr/>
        </p:nvSpPr>
        <p:spPr>
          <a:xfrm>
            <a:off x="881063" y="2928938"/>
            <a:ext cx="7381875" cy="105727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initial phase of our design process involved extensive sketching to rapidly explore various interface concepts. This allowed us to iterate quickly and visually represent our ideas before committing to digital prototypes.</a:t>
            </a:r>
            <a:endParaRPr lang="en-US" sz="1700" dirty="0"/>
          </a:p>
        </p:txBody>
      </p:sp>
      <p:pic>
        <p:nvPicPr>
          <p:cNvPr id="6" name="Picture 5">
            <a:extLst>
              <a:ext uri="{FF2B5EF4-FFF2-40B4-BE49-F238E27FC236}">
                <a16:creationId xmlns:a16="http://schemas.microsoft.com/office/drawing/2014/main" id="{45DB211D-904A-446B-CB3B-B86618824F89}"/>
              </a:ext>
            </a:extLst>
          </p:cNvPr>
          <p:cNvPicPr>
            <a:picLocks noChangeAspect="1"/>
          </p:cNvPicPr>
          <p:nvPr/>
        </p:nvPicPr>
        <p:blipFill>
          <a:blip r:embed="rId3"/>
          <a:stretch>
            <a:fillRect/>
          </a:stretch>
        </p:blipFill>
        <p:spPr>
          <a:xfrm>
            <a:off x="12721572" y="7640060"/>
            <a:ext cx="1780674" cy="562449"/>
          </a:xfrm>
          <a:prstGeom prst="rect">
            <a:avLst/>
          </a:prstGeom>
        </p:spPr>
      </p:pic>
      <p:sp>
        <p:nvSpPr>
          <p:cNvPr id="5" name="Text 2"/>
          <p:cNvSpPr/>
          <p:nvPr/>
        </p:nvSpPr>
        <p:spPr>
          <a:xfrm>
            <a:off x="881063" y="4233982"/>
            <a:ext cx="7381875" cy="2467306"/>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DAD8E9"/>
                </a:solidFill>
                <a:latin typeface="Mukta Light" pitchFamily="34" charset="0"/>
                <a:ea typeface="Mukta Light" pitchFamily="34" charset="-122"/>
                <a:cs typeface="Mukta Light" pitchFamily="34" charset="-120"/>
              </a:rPr>
              <a:t>We brainstormed numerous design ideas, prioritizing simplicity, clarity, and ease of use for all our personas.</a:t>
            </a:r>
            <a:endParaRPr lang="en-US" sz="1700" dirty="0"/>
          </a:p>
          <a:p>
            <a:pPr marL="342900" indent="-342900" algn="l">
              <a:lnSpc>
                <a:spcPts val="2750"/>
              </a:lnSpc>
              <a:buSzPct val="100000"/>
              <a:buChar char="•"/>
            </a:pPr>
            <a:r>
              <a:rPr lang="en-US" sz="1700" dirty="0">
                <a:solidFill>
                  <a:srgbClr val="DAD8E9"/>
                </a:solidFill>
                <a:latin typeface="Mukta Light" pitchFamily="34" charset="0"/>
                <a:ea typeface="Mukta Light" pitchFamily="34" charset="-122"/>
                <a:cs typeface="Mukta Light" pitchFamily="34" charset="-120"/>
              </a:rPr>
              <a:t>Rough sketches were created to explore different input methods for grades and credits, as well as various ways to display calculated GPA and CGPA results.</a:t>
            </a:r>
            <a:endParaRPr lang="en-US" sz="1700" dirty="0"/>
          </a:p>
          <a:p>
            <a:pPr marL="342900" indent="-342900" algn="l">
              <a:lnSpc>
                <a:spcPts val="2750"/>
              </a:lnSpc>
              <a:buSzPct val="100000"/>
              <a:buChar char="•"/>
            </a:pPr>
            <a:r>
              <a:rPr lang="en-US" sz="1700" dirty="0">
                <a:solidFill>
                  <a:srgbClr val="DAD8E9"/>
                </a:solidFill>
                <a:latin typeface="Mukta Light" pitchFamily="34" charset="0"/>
                <a:ea typeface="Mukta Light" pitchFamily="34" charset="-122"/>
                <a:cs typeface="Mukta Light" pitchFamily="34" charset="-120"/>
              </a:rPr>
              <a:t>After evaluating multiple concepts, we selected two promising sketches. These were chosen for their potential to address the diverse needs of our users and were further developed into detailed UI storyboards and task flows.</a:t>
            </a:r>
            <a:endParaRPr lang="en-US" sz="1700" dirty="0"/>
          </a:p>
        </p:txBody>
      </p:sp>
      <p:pic>
        <p:nvPicPr>
          <p:cNvPr id="2" name="Image 0" descr="preencoded.png"/>
          <p:cNvPicPr>
            <a:picLocks noChangeAspect="1"/>
          </p:cNvPicPr>
          <p:nvPr/>
        </p:nvPicPr>
        <p:blipFill>
          <a:blip r:embed="rId4"/>
          <a:stretch>
            <a:fillRect/>
          </a:stretch>
        </p:blipFill>
        <p:spPr>
          <a:xfrm>
            <a:off x="9133612" y="0"/>
            <a:ext cx="5486400" cy="8229600"/>
          </a:xfrm>
          <a:prstGeom prst="rect">
            <a:avLst/>
          </a:prstGeom>
        </p:spPr>
      </p:pic>
    </p:spTree>
    <p:extLst>
      <p:ext uri="{BB962C8B-B14F-4D97-AF65-F5344CB8AC3E}">
        <p14:creationId xmlns:p14="http://schemas.microsoft.com/office/powerpoint/2010/main" val="2609006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458ABC-9DCE-4FA1-8676-65B4AC433BFE}"/>
              </a:ext>
            </a:extLst>
          </p:cNvPr>
          <p:cNvPicPr>
            <a:picLocks noChangeAspect="1"/>
          </p:cNvPicPr>
          <p:nvPr/>
        </p:nvPicPr>
        <p:blipFill>
          <a:blip r:embed="rId3"/>
          <a:stretch>
            <a:fillRect/>
          </a:stretch>
        </p:blipFill>
        <p:spPr>
          <a:xfrm>
            <a:off x="12849726" y="7640061"/>
            <a:ext cx="1780674" cy="562449"/>
          </a:xfrm>
          <a:prstGeom prst="rect">
            <a:avLst/>
          </a:prstGeom>
        </p:spPr>
      </p:pic>
      <p:pic>
        <p:nvPicPr>
          <p:cNvPr id="10" name="Picture 9" descr="A paper with writing on it&#10;&#10;AI-generated content may be incorrect.">
            <a:extLst>
              <a:ext uri="{FF2B5EF4-FFF2-40B4-BE49-F238E27FC236}">
                <a16:creationId xmlns:a16="http://schemas.microsoft.com/office/drawing/2014/main" id="{CF763242-1B84-3652-5BBB-3646DA3140F3}"/>
              </a:ext>
            </a:extLst>
          </p:cNvPr>
          <p:cNvPicPr>
            <a:picLocks noChangeAspect="1"/>
          </p:cNvPicPr>
          <p:nvPr/>
        </p:nvPicPr>
        <p:blipFill>
          <a:blip r:embed="rId4"/>
          <a:srcRect t="1769" b="1263"/>
          <a:stretch/>
        </p:blipFill>
        <p:spPr>
          <a:xfrm>
            <a:off x="6442358" y="145472"/>
            <a:ext cx="5510623" cy="7980219"/>
          </a:xfrm>
          <a:prstGeom prst="rect">
            <a:avLst/>
          </a:prstGeom>
        </p:spPr>
      </p:pic>
      <p:sp>
        <p:nvSpPr>
          <p:cNvPr id="11" name="Text 0">
            <a:extLst>
              <a:ext uri="{FF2B5EF4-FFF2-40B4-BE49-F238E27FC236}">
                <a16:creationId xmlns:a16="http://schemas.microsoft.com/office/drawing/2014/main" id="{A915AC5E-5D4D-A45F-BE5B-CDC39E70B3F5}"/>
              </a:ext>
            </a:extLst>
          </p:cNvPr>
          <p:cNvSpPr/>
          <p:nvPr/>
        </p:nvSpPr>
        <p:spPr>
          <a:xfrm>
            <a:off x="238730" y="501513"/>
            <a:ext cx="7606665" cy="1067514"/>
          </a:xfrm>
          <a:prstGeom prst="rect">
            <a:avLst/>
          </a:prstGeom>
          <a:noFill/>
          <a:ln/>
        </p:spPr>
        <p:txBody>
          <a:bodyPr wrap="square" lIns="0" tIns="0" rIns="0" bIns="0" rtlCol="0" anchor="t"/>
          <a:lstStyle/>
          <a:p>
            <a:pPr marL="0" indent="0" algn="l">
              <a:lnSpc>
                <a:spcPts val="4200"/>
              </a:lnSpc>
              <a:buNone/>
            </a:pPr>
            <a:r>
              <a:rPr lang="en-US" sz="3350" dirty="0">
                <a:solidFill>
                  <a:srgbClr val="C6BFEE"/>
                </a:solidFill>
                <a:latin typeface="Prompt Medium" pitchFamily="34" charset="0"/>
                <a:ea typeface="Prompt Medium" pitchFamily="34" charset="-122"/>
                <a:cs typeface="Prompt Medium" pitchFamily="34" charset="-120"/>
              </a:rPr>
              <a:t>Sketch 1: </a:t>
            </a:r>
            <a:r>
              <a:rPr lang="en-US" sz="3350" dirty="0">
                <a:solidFill>
                  <a:srgbClr val="C6BFEE"/>
                </a:solidFill>
                <a:latin typeface="Prompt Medium" pitchFamily="34" charset="0"/>
                <a:ea typeface="Prompt Medium" pitchFamily="34" charset="-122"/>
                <a:cs typeface="Prompt Medium" pitchFamily="34" charset="-120"/>
                <a:sym typeface="Wingdings" panose="05000000000000000000" pitchFamily="2" charset="2"/>
              </a:rPr>
              <a:t></a:t>
            </a:r>
            <a:endParaRPr lang="en-US" sz="3350" dirty="0"/>
          </a:p>
        </p:txBody>
      </p:sp>
    </p:spTree>
    <p:extLst>
      <p:ext uri="{BB962C8B-B14F-4D97-AF65-F5344CB8AC3E}">
        <p14:creationId xmlns:p14="http://schemas.microsoft.com/office/powerpoint/2010/main" val="3212799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8730" y="501513"/>
            <a:ext cx="7606665" cy="1067514"/>
          </a:xfrm>
          <a:prstGeom prst="rect">
            <a:avLst/>
          </a:prstGeom>
          <a:noFill/>
          <a:ln/>
        </p:spPr>
        <p:txBody>
          <a:bodyPr wrap="square" lIns="0" tIns="0" rIns="0" bIns="0" rtlCol="0" anchor="t"/>
          <a:lstStyle/>
          <a:p>
            <a:pPr marL="0" indent="0" algn="l">
              <a:lnSpc>
                <a:spcPts val="4200"/>
              </a:lnSpc>
              <a:buNone/>
            </a:pPr>
            <a:r>
              <a:rPr lang="en-US" sz="3350" dirty="0">
                <a:solidFill>
                  <a:srgbClr val="C6BFEE"/>
                </a:solidFill>
                <a:latin typeface="Prompt Medium" pitchFamily="34" charset="0"/>
                <a:ea typeface="Prompt Medium" pitchFamily="34" charset="-122"/>
                <a:cs typeface="Prompt Medium" pitchFamily="34" charset="-120"/>
              </a:rPr>
              <a:t>Sketch 2: </a:t>
            </a:r>
            <a:r>
              <a:rPr lang="en-US" sz="3350" dirty="0">
                <a:solidFill>
                  <a:srgbClr val="C6BFEE"/>
                </a:solidFill>
                <a:latin typeface="Prompt Medium" pitchFamily="34" charset="0"/>
                <a:ea typeface="Prompt Medium" pitchFamily="34" charset="-122"/>
                <a:cs typeface="Prompt Medium" pitchFamily="34" charset="-120"/>
                <a:sym typeface="Wingdings" panose="05000000000000000000" pitchFamily="2" charset="2"/>
              </a:rPr>
              <a:t></a:t>
            </a:r>
            <a:r>
              <a:rPr lang="en-US" sz="3350" dirty="0">
                <a:solidFill>
                  <a:srgbClr val="C6BFEE"/>
                </a:solidFill>
                <a:latin typeface="Prompt Medium" pitchFamily="34" charset="0"/>
                <a:ea typeface="Prompt Medium" pitchFamily="34" charset="-122"/>
                <a:cs typeface="Prompt Medium" pitchFamily="34" charset="-120"/>
              </a:rPr>
              <a:t> </a:t>
            </a:r>
            <a:endParaRPr lang="en-US" sz="3350" dirty="0"/>
          </a:p>
        </p:txBody>
      </p:sp>
      <p:pic>
        <p:nvPicPr>
          <p:cNvPr id="8" name="Picture 7">
            <a:extLst>
              <a:ext uri="{FF2B5EF4-FFF2-40B4-BE49-F238E27FC236}">
                <a16:creationId xmlns:a16="http://schemas.microsoft.com/office/drawing/2014/main" id="{F1458ABC-9DCE-4FA1-8676-65B4AC433BFE}"/>
              </a:ext>
            </a:extLst>
          </p:cNvPr>
          <p:cNvPicPr>
            <a:picLocks noChangeAspect="1"/>
          </p:cNvPicPr>
          <p:nvPr/>
        </p:nvPicPr>
        <p:blipFill>
          <a:blip r:embed="rId3"/>
          <a:stretch>
            <a:fillRect/>
          </a:stretch>
        </p:blipFill>
        <p:spPr>
          <a:xfrm>
            <a:off x="12849726" y="7640061"/>
            <a:ext cx="1780674" cy="562449"/>
          </a:xfrm>
          <a:prstGeom prst="rect">
            <a:avLst/>
          </a:prstGeom>
        </p:spPr>
      </p:pic>
      <p:pic>
        <p:nvPicPr>
          <p:cNvPr id="4" name="Picture 3" descr="A paper with blue writing on it&#10;&#10;AI-generated content may be incorrect.">
            <a:extLst>
              <a:ext uri="{FF2B5EF4-FFF2-40B4-BE49-F238E27FC236}">
                <a16:creationId xmlns:a16="http://schemas.microsoft.com/office/drawing/2014/main" id="{5ABEE980-EF13-91EC-6CC2-5603757E6236}"/>
              </a:ext>
            </a:extLst>
          </p:cNvPr>
          <p:cNvPicPr>
            <a:picLocks noChangeAspect="1"/>
          </p:cNvPicPr>
          <p:nvPr/>
        </p:nvPicPr>
        <p:blipFill>
          <a:blip r:embed="rId4"/>
          <a:srcRect l="1515" t="1939" r="3366" b="1386"/>
          <a:stretch/>
        </p:blipFill>
        <p:spPr>
          <a:xfrm>
            <a:off x="2909459" y="155864"/>
            <a:ext cx="5870864" cy="7969827"/>
          </a:xfrm>
          <a:prstGeom prst="rect">
            <a:avLst/>
          </a:prstGeom>
        </p:spPr>
      </p:pic>
      <p:pic>
        <p:nvPicPr>
          <p:cNvPr id="6" name="Picture 5" descr="A paper with writing on it&#10;&#10;AI-generated content may be incorrect.">
            <a:extLst>
              <a:ext uri="{FF2B5EF4-FFF2-40B4-BE49-F238E27FC236}">
                <a16:creationId xmlns:a16="http://schemas.microsoft.com/office/drawing/2014/main" id="{C250A359-608C-1C1A-D75F-0986E38ECAD0}"/>
              </a:ext>
            </a:extLst>
          </p:cNvPr>
          <p:cNvPicPr>
            <a:picLocks noChangeAspect="1"/>
          </p:cNvPicPr>
          <p:nvPr/>
        </p:nvPicPr>
        <p:blipFill>
          <a:blip r:embed="rId5"/>
          <a:srcRect l="1347" r="5387" b="3157"/>
          <a:stretch/>
        </p:blipFill>
        <p:spPr>
          <a:xfrm>
            <a:off x="8832274" y="141391"/>
            <a:ext cx="5756565" cy="7969827"/>
          </a:xfrm>
          <a:prstGeom prst="rect">
            <a:avLst/>
          </a:prstGeom>
        </p:spPr>
      </p:pic>
    </p:spTree>
    <p:extLst>
      <p:ext uri="{BB962C8B-B14F-4D97-AF65-F5344CB8AC3E}">
        <p14:creationId xmlns:p14="http://schemas.microsoft.com/office/powerpoint/2010/main" val="19535167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pic>
        <p:nvPicPr>
          <p:cNvPr id="12" name="Picture 11" descr="A person using a touch screen device&#10;&#10;AI-generated content may be incorrect.">
            <a:extLst>
              <a:ext uri="{FF2B5EF4-FFF2-40B4-BE49-F238E27FC236}">
                <a16:creationId xmlns:a16="http://schemas.microsoft.com/office/drawing/2014/main" id="{7440E2D1-1662-4339-D0E5-E352EC5CE2E3}"/>
              </a:ext>
            </a:extLst>
          </p:cNvPr>
          <p:cNvPicPr>
            <a:picLocks noChangeAspect="1"/>
          </p:cNvPicPr>
          <p:nvPr/>
        </p:nvPicPr>
        <p:blipFill>
          <a:blip r:embed="rId5"/>
          <a:stretch>
            <a:fillRect/>
          </a:stretch>
        </p:blipFill>
        <p:spPr>
          <a:xfrm>
            <a:off x="0" y="0"/>
            <a:ext cx="14630400" cy="8229600"/>
          </a:xfrm>
          <a:prstGeom prst="rect">
            <a:avLst/>
          </a:prstGeom>
        </p:spPr>
      </p:pic>
    </p:spTree>
    <p:extLst>
      <p:ext uri="{BB962C8B-B14F-4D97-AF65-F5344CB8AC3E}">
        <p14:creationId xmlns:p14="http://schemas.microsoft.com/office/powerpoint/2010/main" val="20134913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3"/>
          <a:stretch>
            <a:fillRect/>
          </a:stretch>
        </p:blipFill>
        <p:spPr>
          <a:xfrm>
            <a:off x="12849726" y="7640061"/>
            <a:ext cx="1780674" cy="562449"/>
          </a:xfrm>
          <a:prstGeom prst="rect">
            <a:avLst/>
          </a:prstGeom>
        </p:spPr>
      </p:pic>
      <p:pic>
        <p:nvPicPr>
          <p:cNvPr id="14" name="Picture 13" descr="A screen shot of a calculator&#10;&#10;AI-generated content may be incorrect.">
            <a:extLst>
              <a:ext uri="{FF2B5EF4-FFF2-40B4-BE49-F238E27FC236}">
                <a16:creationId xmlns:a16="http://schemas.microsoft.com/office/drawing/2014/main" id="{D7695483-4C83-AC1E-AA12-481E9C5058FE}"/>
              </a:ext>
            </a:extLst>
          </p:cNvPr>
          <p:cNvPicPr>
            <a:picLocks noChangeAspect="1"/>
          </p:cNvPicPr>
          <p:nvPr/>
        </p:nvPicPr>
        <p:blipFill>
          <a:blip r:embed="rId4"/>
          <a:stretch>
            <a:fillRect/>
          </a:stretch>
        </p:blipFill>
        <p:spPr>
          <a:xfrm>
            <a:off x="1548241" y="1518078"/>
            <a:ext cx="11450781" cy="6250269"/>
          </a:xfrm>
          <a:prstGeom prst="rect">
            <a:avLst/>
          </a:prstGeom>
        </p:spPr>
      </p:pic>
      <p:sp>
        <p:nvSpPr>
          <p:cNvPr id="15" name="Text 0">
            <a:extLst>
              <a:ext uri="{FF2B5EF4-FFF2-40B4-BE49-F238E27FC236}">
                <a16:creationId xmlns:a16="http://schemas.microsoft.com/office/drawing/2014/main" id="{BC119A8B-0E90-9151-C19B-B9278F6D32B1}"/>
              </a:ext>
            </a:extLst>
          </p:cNvPr>
          <p:cNvSpPr/>
          <p:nvPr/>
        </p:nvSpPr>
        <p:spPr>
          <a:xfrm>
            <a:off x="3337507" y="541410"/>
            <a:ext cx="7381875"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Welcome Page</a:t>
            </a:r>
            <a:endParaRPr lang="en-US" sz="3850" dirty="0"/>
          </a:p>
        </p:txBody>
      </p:sp>
    </p:spTree>
    <p:extLst>
      <p:ext uri="{BB962C8B-B14F-4D97-AF65-F5344CB8AC3E}">
        <p14:creationId xmlns:p14="http://schemas.microsoft.com/office/powerpoint/2010/main" val="27163741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CDD7523-3C6D-607E-C017-CE6DD1879601}"/>
              </a:ext>
            </a:extLst>
          </p:cNvPr>
          <p:cNvPicPr>
            <a:picLocks noChangeAspect="1"/>
          </p:cNvPicPr>
          <p:nvPr/>
        </p:nvPicPr>
        <p:blipFill>
          <a:blip r:embed="rId5"/>
          <a:stretch>
            <a:fillRect/>
          </a:stretch>
        </p:blipFill>
        <p:spPr>
          <a:xfrm>
            <a:off x="1018738" y="1906299"/>
            <a:ext cx="12393854" cy="5315383"/>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337507" y="541410"/>
            <a:ext cx="7381875"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GPA Calculator</a:t>
            </a:r>
            <a:endParaRPr lang="en-US" sz="3850" dirty="0"/>
          </a:p>
        </p:txBody>
      </p:sp>
    </p:spTree>
    <p:extLst>
      <p:ext uri="{BB962C8B-B14F-4D97-AF65-F5344CB8AC3E}">
        <p14:creationId xmlns:p14="http://schemas.microsoft.com/office/powerpoint/2010/main" val="906604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337507" y="541410"/>
            <a:ext cx="7381875"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CGPA Calculator</a:t>
            </a:r>
            <a:endParaRPr lang="en-US" sz="3850" dirty="0"/>
          </a:p>
        </p:txBody>
      </p:sp>
      <p:pic>
        <p:nvPicPr>
          <p:cNvPr id="6" name="Picture 5" descr="A screenshot of a computer&#10;&#10;AI-generated content may be incorrect.">
            <a:extLst>
              <a:ext uri="{FF2B5EF4-FFF2-40B4-BE49-F238E27FC236}">
                <a16:creationId xmlns:a16="http://schemas.microsoft.com/office/drawing/2014/main" id="{3E0C4027-9FA9-68AA-8D35-033A8DE535B5}"/>
              </a:ext>
            </a:extLst>
          </p:cNvPr>
          <p:cNvPicPr>
            <a:picLocks noChangeAspect="1"/>
          </p:cNvPicPr>
          <p:nvPr/>
        </p:nvPicPr>
        <p:blipFill>
          <a:blip r:embed="rId5"/>
          <a:stretch>
            <a:fillRect/>
          </a:stretch>
        </p:blipFill>
        <p:spPr>
          <a:xfrm>
            <a:off x="1174600" y="1824468"/>
            <a:ext cx="12123084" cy="5697466"/>
          </a:xfrm>
          <a:prstGeom prst="rect">
            <a:avLst/>
          </a:prstGeom>
        </p:spPr>
      </p:pic>
    </p:spTree>
    <p:extLst>
      <p:ext uri="{BB962C8B-B14F-4D97-AF65-F5344CB8AC3E}">
        <p14:creationId xmlns:p14="http://schemas.microsoft.com/office/powerpoint/2010/main" val="23579459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337507" y="541410"/>
            <a:ext cx="7381875"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Credit Hours Explained</a:t>
            </a:r>
            <a:endParaRPr lang="en-US" sz="3850" dirty="0"/>
          </a:p>
        </p:txBody>
      </p:sp>
      <p:pic>
        <p:nvPicPr>
          <p:cNvPr id="6" name="Picture 5" descr="A screenshot of a credit hours explained&#10;&#10;AI-generated content may be incorrect.">
            <a:extLst>
              <a:ext uri="{FF2B5EF4-FFF2-40B4-BE49-F238E27FC236}">
                <a16:creationId xmlns:a16="http://schemas.microsoft.com/office/drawing/2014/main" id="{34FD1896-68CA-922A-0C1C-2B881271DCF3}"/>
              </a:ext>
            </a:extLst>
          </p:cNvPr>
          <p:cNvPicPr>
            <a:picLocks noChangeAspect="1"/>
          </p:cNvPicPr>
          <p:nvPr/>
        </p:nvPicPr>
        <p:blipFill>
          <a:blip r:embed="rId5"/>
          <a:stretch>
            <a:fillRect/>
          </a:stretch>
        </p:blipFill>
        <p:spPr>
          <a:xfrm>
            <a:off x="2494251" y="1374631"/>
            <a:ext cx="9793559" cy="6635678"/>
          </a:xfrm>
          <a:prstGeom prst="rect">
            <a:avLst/>
          </a:prstGeom>
        </p:spPr>
      </p:pic>
    </p:spTree>
    <p:extLst>
      <p:ext uri="{BB962C8B-B14F-4D97-AF65-F5344CB8AC3E}">
        <p14:creationId xmlns:p14="http://schemas.microsoft.com/office/powerpoint/2010/main" val="35065539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337507" y="541410"/>
            <a:ext cx="7381875"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GPA/CGPA Explained</a:t>
            </a:r>
            <a:endParaRPr lang="en-US" sz="3850" dirty="0"/>
          </a:p>
        </p:txBody>
      </p:sp>
      <p:pic>
        <p:nvPicPr>
          <p:cNvPr id="6" name="Picture 5" descr="A screenshot of a computer&#10;&#10;AI-generated content may be incorrect.">
            <a:extLst>
              <a:ext uri="{FF2B5EF4-FFF2-40B4-BE49-F238E27FC236}">
                <a16:creationId xmlns:a16="http://schemas.microsoft.com/office/drawing/2014/main" id="{DFC0D3E2-6C9E-8FD0-EF61-EAE09F770160}"/>
              </a:ext>
            </a:extLst>
          </p:cNvPr>
          <p:cNvPicPr>
            <a:picLocks noChangeAspect="1"/>
          </p:cNvPicPr>
          <p:nvPr/>
        </p:nvPicPr>
        <p:blipFill>
          <a:blip r:embed="rId5"/>
          <a:stretch>
            <a:fillRect/>
          </a:stretch>
        </p:blipFill>
        <p:spPr>
          <a:xfrm>
            <a:off x="2205588" y="1329386"/>
            <a:ext cx="10219223" cy="6557963"/>
          </a:xfrm>
          <a:prstGeom prst="rect">
            <a:avLst/>
          </a:prstGeom>
        </p:spPr>
      </p:pic>
    </p:spTree>
    <p:extLst>
      <p:ext uri="{BB962C8B-B14F-4D97-AF65-F5344CB8AC3E}">
        <p14:creationId xmlns:p14="http://schemas.microsoft.com/office/powerpoint/2010/main" val="22777873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254379" y="541410"/>
            <a:ext cx="8321093"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International GPA Interpretation</a:t>
            </a:r>
            <a:endParaRPr lang="en-US" sz="3850" dirty="0"/>
          </a:p>
        </p:txBody>
      </p:sp>
      <p:pic>
        <p:nvPicPr>
          <p:cNvPr id="4" name="Picture 3" descr="A screenshot of a computer&#10;&#10;AI-generated content may be incorrect.">
            <a:extLst>
              <a:ext uri="{FF2B5EF4-FFF2-40B4-BE49-F238E27FC236}">
                <a16:creationId xmlns:a16="http://schemas.microsoft.com/office/drawing/2014/main" id="{53CF3D51-1346-CFF0-AD00-8D69C2FFF7B7}"/>
              </a:ext>
            </a:extLst>
          </p:cNvPr>
          <p:cNvPicPr>
            <a:picLocks noChangeAspect="1"/>
          </p:cNvPicPr>
          <p:nvPr/>
        </p:nvPicPr>
        <p:blipFill>
          <a:blip r:embed="rId5"/>
          <a:stretch>
            <a:fillRect/>
          </a:stretch>
        </p:blipFill>
        <p:spPr>
          <a:xfrm>
            <a:off x="2482444" y="1194521"/>
            <a:ext cx="9665512" cy="6711878"/>
          </a:xfrm>
          <a:prstGeom prst="rect">
            <a:avLst/>
          </a:prstGeom>
        </p:spPr>
      </p:pic>
    </p:spTree>
    <p:extLst>
      <p:ext uri="{BB962C8B-B14F-4D97-AF65-F5344CB8AC3E}">
        <p14:creationId xmlns:p14="http://schemas.microsoft.com/office/powerpoint/2010/main" val="1023080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sp>
        <p:nvSpPr>
          <p:cNvPr id="5" name="Text 0">
            <a:extLst>
              <a:ext uri="{FF2B5EF4-FFF2-40B4-BE49-F238E27FC236}">
                <a16:creationId xmlns:a16="http://schemas.microsoft.com/office/drawing/2014/main" id="{208D2CC8-E4DB-593D-9D0E-52E92670A8EC}"/>
              </a:ext>
            </a:extLst>
          </p:cNvPr>
          <p:cNvSpPr/>
          <p:nvPr/>
        </p:nvSpPr>
        <p:spPr>
          <a:xfrm>
            <a:off x="3254379" y="541410"/>
            <a:ext cx="8321093" cy="736673"/>
          </a:xfrm>
          <a:prstGeom prst="rect">
            <a:avLst/>
          </a:prstGeom>
          <a:noFill/>
          <a:ln/>
        </p:spPr>
        <p:txBody>
          <a:bodyPr wrap="square" lIns="0" tIns="0" rIns="0" bIns="0" rtlCol="0" anchor="t"/>
          <a:lstStyle/>
          <a:p>
            <a:pPr marL="0" indent="0" algn="ctr">
              <a:lnSpc>
                <a:spcPts val="4800"/>
              </a:lnSpc>
              <a:buNone/>
            </a:pPr>
            <a:r>
              <a:rPr lang="en-US" sz="3850" dirty="0">
                <a:solidFill>
                  <a:srgbClr val="C6BFEE"/>
                </a:solidFill>
                <a:latin typeface="Prompt Medium" pitchFamily="34" charset="0"/>
                <a:ea typeface="Prompt Medium" pitchFamily="34" charset="-122"/>
                <a:cs typeface="Prompt Medium" pitchFamily="34" charset="-120"/>
              </a:rPr>
              <a:t>Website: </a:t>
            </a:r>
            <a:r>
              <a:rPr lang="en-US" sz="3850" dirty="0">
                <a:solidFill>
                  <a:srgbClr val="C6BFEE"/>
                </a:solidFill>
                <a:latin typeface="Prompt Medium" pitchFamily="34" charset="0"/>
                <a:ea typeface="Prompt Medium" pitchFamily="34" charset="-122"/>
                <a:cs typeface="Prompt Medium" pitchFamily="34" charset="-120"/>
                <a:hlinkClick r:id="rId5"/>
              </a:rPr>
              <a:t>Link</a:t>
            </a:r>
            <a:endParaRPr lang="en-US" sz="3850" dirty="0"/>
          </a:p>
        </p:txBody>
      </p:sp>
      <p:pic>
        <p:nvPicPr>
          <p:cNvPr id="6" name="Picture 5" descr="A screenshot of a computer&#10;&#10;AI-generated content may be incorrect.">
            <a:extLst>
              <a:ext uri="{FF2B5EF4-FFF2-40B4-BE49-F238E27FC236}">
                <a16:creationId xmlns:a16="http://schemas.microsoft.com/office/drawing/2014/main" id="{C6E697AB-F7A4-0DA3-A0DF-F8F3E3357CB6}"/>
              </a:ext>
            </a:extLst>
          </p:cNvPr>
          <p:cNvPicPr>
            <a:picLocks noChangeAspect="1"/>
          </p:cNvPicPr>
          <p:nvPr/>
        </p:nvPicPr>
        <p:blipFill>
          <a:blip r:embed="rId6"/>
          <a:stretch>
            <a:fillRect/>
          </a:stretch>
        </p:blipFill>
        <p:spPr>
          <a:xfrm>
            <a:off x="2795587" y="1244260"/>
            <a:ext cx="9039225" cy="6677025"/>
          </a:xfrm>
          <a:prstGeom prst="rect">
            <a:avLst/>
          </a:prstGeom>
        </p:spPr>
      </p:pic>
    </p:spTree>
    <p:extLst>
      <p:ext uri="{BB962C8B-B14F-4D97-AF65-F5344CB8AC3E}">
        <p14:creationId xmlns:p14="http://schemas.microsoft.com/office/powerpoint/2010/main" val="26014621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6000"/>
            <a:lum/>
          </a:blip>
          <a:srcRect/>
          <a:stretch>
            <a:fillRect t="-9000" b="-9000"/>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DFB2EF2-4844-457E-AD5A-D5304D0DCD56}"/>
              </a:ext>
            </a:extLst>
          </p:cNvPr>
          <p:cNvPicPr>
            <a:picLocks noChangeAspect="1"/>
          </p:cNvPicPr>
          <p:nvPr/>
        </p:nvPicPr>
        <p:blipFill>
          <a:blip r:embed="rId4"/>
          <a:stretch>
            <a:fillRect/>
          </a:stretch>
        </p:blipFill>
        <p:spPr>
          <a:xfrm>
            <a:off x="12849726" y="7640061"/>
            <a:ext cx="1780674" cy="562449"/>
          </a:xfrm>
          <a:prstGeom prst="rect">
            <a:avLst/>
          </a:prstGeom>
        </p:spPr>
      </p:pic>
      <p:pic>
        <p:nvPicPr>
          <p:cNvPr id="8" name="Picture 7" descr="A person typing on a computer&#10;&#10;AI-generated content may be incorrect.">
            <a:extLst>
              <a:ext uri="{FF2B5EF4-FFF2-40B4-BE49-F238E27FC236}">
                <a16:creationId xmlns:a16="http://schemas.microsoft.com/office/drawing/2014/main" id="{004E610F-9F66-DA2E-C7DF-530230B2B4B7}"/>
              </a:ext>
            </a:extLst>
          </p:cNvPr>
          <p:cNvPicPr>
            <a:picLocks noChangeAspect="1"/>
          </p:cNvPicPr>
          <p:nvPr/>
        </p:nvPicPr>
        <p:blipFill>
          <a:blip r:embed="rId3"/>
          <a:srcRect t="8206" b="8206"/>
          <a:stretch/>
        </p:blipFill>
        <p:spPr>
          <a:xfrm>
            <a:off x="-20256" y="27090"/>
            <a:ext cx="14670912" cy="8175420"/>
          </a:xfrm>
          <a:prstGeom prst="rect">
            <a:avLst/>
          </a:prstGeom>
        </p:spPr>
      </p:pic>
    </p:spTree>
    <p:extLst>
      <p:ext uri="{BB962C8B-B14F-4D97-AF65-F5344CB8AC3E}">
        <p14:creationId xmlns:p14="http://schemas.microsoft.com/office/powerpoint/2010/main" val="19058701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783</TotalTime>
  <Words>1486</Words>
  <Application>Microsoft Office PowerPoint</Application>
  <PresentationFormat>Custom</PresentationFormat>
  <Paragraphs>111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Prompt Medium</vt:lpstr>
      <vt:lpstr>Mukta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Ibrar Hassan</dc:creator>
  <cp:lastModifiedBy>Ibrar Hassan</cp:lastModifiedBy>
  <cp:revision>15</cp:revision>
  <dcterms:created xsi:type="dcterms:W3CDTF">2026-01-28T03:58:47Z</dcterms:created>
  <dcterms:modified xsi:type="dcterms:W3CDTF">2026-01-29T03:46:01Z</dcterms:modified>
</cp:coreProperties>
</file>